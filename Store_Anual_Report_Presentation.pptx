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charts/chart6.xml" ContentType="application/vnd.openxmlformats-officedocument.drawingml.chart+xml"/>
  <Override PartName="/ppt/notesSlides/notesSlide14.xml" ContentType="application/vnd.openxmlformats-officedocument.presentationml.notesSlide+xml"/>
  <Override PartName="/ppt/charts/chart7.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34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140"/>
                </a:solidFill>
                <a:latin typeface="Cambria"/>
              </a:defRPr>
            </a:pPr>
            <a:r>
              <a:rPr lang="en-US" sz="1400" b="0" i="0" u="none" strike="noStrike">
                <a:solidFill>
                  <a:srgbClr val="1B1140"/>
                </a:solidFill>
                <a:latin typeface="Cambria"/>
              </a:rPr>
              <a:t>Sales and orders, month by month (2026)</a:t>
            </a:r>
          </a:p>
        </c:rich>
      </c:tx>
      <c:overlay val="0"/>
    </c:title>
    <c:autoTitleDeleted val="0"/>
    <c:plotArea>
      <c:layout/>
      <c:barChart>
        <c:barDir val="col"/>
        <c:grouping val="clustered"/>
        <c:varyColors val="0"/>
        <c:ser>
          <c:idx val="0"/>
          <c:order val="0"/>
          <c:tx>
            <c:strRef>
              <c:f>Sheet1!$B$1</c:f>
              <c:strCache>
                <c:ptCount val="1"/>
                <c:pt idx="0">
                  <c:v>Sales (Rs)</c:v>
                </c:pt>
              </c:strCache>
            </c:strRef>
          </c:tx>
          <c:spPr>
            <a:solidFill>
              <a:srgbClr val="3A2778"/>
            </a:solidFill>
            <a:effectLst/>
          </c:spPr>
          <c:invertIfNegative val="0"/>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1820601</c:v>
                </c:pt>
                <c:pt idx="1">
                  <c:v>1875932</c:v>
                </c:pt>
                <c:pt idx="2">
                  <c:v>1928066</c:v>
                </c:pt>
                <c:pt idx="3">
                  <c:v>1829263</c:v>
                </c:pt>
                <c:pt idx="4">
                  <c:v>1797822</c:v>
                </c:pt>
                <c:pt idx="5">
                  <c:v>1750966</c:v>
                </c:pt>
                <c:pt idx="6">
                  <c:v>1772300</c:v>
                </c:pt>
                <c:pt idx="7">
                  <c:v>1808505</c:v>
                </c:pt>
                <c:pt idx="8">
                  <c:v>1688871</c:v>
                </c:pt>
                <c:pt idx="9">
                  <c:v>1666662</c:v>
                </c:pt>
                <c:pt idx="10">
                  <c:v>1615356</c:v>
                </c:pt>
                <c:pt idx="11">
                  <c:v>1622033</c:v>
                </c:pt>
              </c:numCache>
            </c:numRef>
          </c:val>
          <c:extLst>
            <c:ext xmlns:c16="http://schemas.microsoft.com/office/drawing/2014/chart" uri="{C3380CC4-5D6E-409C-BE32-E72D297353CC}">
              <c16:uniqueId val="{00000000-8322-4FBC-B30B-D63A748BDD3A}"/>
            </c:ext>
          </c:extLst>
        </c:ser>
        <c:dLbls>
          <c:showLegendKey val="0"/>
          <c:showVal val="0"/>
          <c:showCatName val="0"/>
          <c:showSerName val="0"/>
          <c:showPercent val="0"/>
          <c:showBubbleSize val="0"/>
        </c:dLbls>
        <c:gapWidth val="55"/>
        <c:axId val="2094734554"/>
        <c:axId val="2094734552"/>
      </c:barChart>
      <c:lineChart>
        <c:grouping val="standard"/>
        <c:varyColors val="0"/>
        <c:ser>
          <c:idx val="1"/>
          <c:order val="1"/>
          <c:tx>
            <c:strRef>
              <c:f>Sheet1!$C$1</c:f>
              <c:strCache>
                <c:ptCount val="1"/>
                <c:pt idx="0">
                  <c:v>Orders</c:v>
                </c:pt>
              </c:strCache>
            </c:strRef>
          </c:tx>
          <c:spPr>
            <a:ln w="38100" cap="flat">
              <a:solidFill>
                <a:srgbClr val="F3A63B"/>
              </a:solidFill>
              <a:prstDash val="solid"/>
              <a:round/>
            </a:ln>
            <a:effectLst/>
          </c:spPr>
          <c:marker>
            <c:symbol val="circle"/>
            <c:size val="7"/>
            <c:spPr>
              <a:solidFill>
                <a:srgbClr val="F3A63B"/>
              </a:solidFill>
              <a:ln w="9525" cap="flat">
                <a:solidFill>
                  <a:srgbClr val="F3A63B"/>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2702</c:v>
                </c:pt>
                <c:pt idx="1">
                  <c:v>2750</c:v>
                </c:pt>
                <c:pt idx="2">
                  <c:v>2819</c:v>
                </c:pt>
                <c:pt idx="3">
                  <c:v>2685</c:v>
                </c:pt>
                <c:pt idx="4">
                  <c:v>2617</c:v>
                </c:pt>
                <c:pt idx="5">
                  <c:v>2597</c:v>
                </c:pt>
                <c:pt idx="6">
                  <c:v>2579</c:v>
                </c:pt>
                <c:pt idx="7">
                  <c:v>2617</c:v>
                </c:pt>
                <c:pt idx="8">
                  <c:v>2490</c:v>
                </c:pt>
                <c:pt idx="9">
                  <c:v>2424</c:v>
                </c:pt>
                <c:pt idx="10">
                  <c:v>2383</c:v>
                </c:pt>
                <c:pt idx="11">
                  <c:v>2384</c:v>
                </c:pt>
              </c:numCache>
            </c:numRef>
          </c:val>
          <c:smooth val="0"/>
          <c:extLst>
            <c:ext xmlns:c16="http://schemas.microsoft.com/office/drawing/2014/chart" uri="{C3380CC4-5D6E-409C-BE32-E72D297353CC}">
              <c16:uniqueId val="{00000001-8322-4FBC-B30B-D63A748BDD3A}"/>
            </c:ext>
          </c:extLst>
        </c:ser>
        <c:dLbls>
          <c:showLegendKey val="0"/>
          <c:showVal val="0"/>
          <c:showCatName val="0"/>
          <c:showSerName val="0"/>
          <c:showPercent val="0"/>
          <c:showBubbleSize val="0"/>
        </c:dLbls>
        <c:marker val="1"/>
        <c:smooth val="0"/>
        <c:axId val="2094734555"/>
        <c:axId val="2094734553"/>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4468"/>
                </a:solidFill>
                <a:latin typeface="Calibri"/>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12700" cap="flat">
              <a:solidFill>
                <a:srgbClr val="D9D0E2"/>
              </a:solidFill>
              <a:prstDash val="solid"/>
              <a:round/>
            </a:ln>
          </c:spPr>
        </c:majorGridlines>
        <c:title>
          <c:tx>
            <c:rich>
              <a:bodyPr/>
              <a:lstStyle/>
              <a:p>
                <a:pPr>
                  <a:defRPr sz="1000" b="0" i="0" u="none" strike="noStrike">
                    <a:solidFill>
                      <a:srgbClr val="4B4468"/>
                    </a:solidFill>
                    <a:latin typeface="Arial"/>
                  </a:defRPr>
                </a:pPr>
                <a:r>
                  <a:rPr lang="en-IN" sz="1000" b="0" i="0" u="none" strike="noStrike">
                    <a:solidFill>
                      <a:srgbClr val="4B4468"/>
                    </a:solidFill>
                    <a:latin typeface="Arial"/>
                  </a:rPr>
                  <a:t>Sales (Rs)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4468"/>
                </a:solidFill>
                <a:latin typeface="Calibri"/>
              </a:defRPr>
            </a:pPr>
            <a:endParaRPr lang="en-US"/>
          </a:p>
        </c:txPr>
        <c:crossAx val="2094734554"/>
        <c:crosses val="autoZero"/>
        <c:crossBetween val="between"/>
      </c:valAx>
      <c:valAx>
        <c:axId val="2094734553"/>
        <c:scaling>
          <c:orientation val="minMax"/>
          <c:min val="0"/>
        </c:scaling>
        <c:delete val="0"/>
        <c:axPos val="r"/>
        <c:title>
          <c:tx>
            <c:rich>
              <a:bodyPr/>
              <a:lstStyle/>
              <a:p>
                <a:pPr>
                  <a:defRPr sz="1000" b="0" i="0" u="none" strike="noStrike">
                    <a:solidFill>
                      <a:srgbClr val="4B4468"/>
                    </a:solidFill>
                    <a:latin typeface="Arial"/>
                  </a:defRPr>
                </a:pPr>
                <a:r>
                  <a:rPr lang="en-IN" sz="1000" b="0" i="0" u="none" strike="noStrike">
                    <a:solidFill>
                      <a:srgbClr val="4B4468"/>
                    </a:solidFill>
                    <a:latin typeface="Arial"/>
                  </a:rPr>
                  <a:t>Orders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4468"/>
                </a:solidFill>
                <a:latin typeface="Calibri"/>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crossAx val="2094734553"/>
        <c:crosses val="autoZero"/>
        <c:auto val="1"/>
        <c:lblAlgn val="ctr"/>
        <c:lblOffset val="100"/>
        <c:noMultiLvlLbl val="1"/>
      </c:catAx>
      <c:spPr>
        <a:solidFill>
          <a:srgbClr val="FFFFFF"/>
        </a:solidFill>
        <a:ln w="12700" cap="flat">
          <a:solidFill>
            <a:srgbClr val="FFFFFF"/>
          </a:solidFill>
        </a:ln>
        <a:effectLst/>
      </c:spPr>
    </c:plotArea>
    <c:legend>
      <c:legendPos val="t"/>
      <c:overlay val="0"/>
      <c:txPr>
        <a:bodyPr/>
        <a:lstStyle/>
        <a:p>
          <a:pPr>
            <a:defRPr sz="1100">
              <a:solidFill>
                <a:srgbClr val="4B4468"/>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140"/>
                </a:solidFill>
                <a:latin typeface="Cambria"/>
              </a:defRPr>
            </a:pPr>
            <a:r>
              <a:rPr lang="en-IN" sz="1400" b="0" i="0" u="none" strike="noStrike">
                <a:solidFill>
                  <a:srgbClr val="1B1140"/>
                </a:solidFill>
                <a:latin typeface="Cambria"/>
              </a:rPr>
              <a:t>Share of total sales</a:t>
            </a:r>
          </a:p>
        </c:rich>
      </c:tx>
      <c:overlay val="0"/>
    </c:title>
    <c:autoTitleDeleted val="0"/>
    <c:plotArea>
      <c:layout/>
      <c:doughnutChart>
        <c:varyColors val="1"/>
        <c:ser>
          <c:idx val="0"/>
          <c:order val="0"/>
          <c:tx>
            <c:strRef>
              <c:f>Sheet1!$B$1</c:f>
              <c:strCache>
                <c:ptCount val="1"/>
                <c:pt idx="0">
                  <c:v>Sales</c:v>
                </c:pt>
              </c:strCache>
            </c:strRef>
          </c:tx>
          <c:spPr>
            <a:solidFill>
              <a:schemeClr val="accent1"/>
            </a:solidFill>
            <a:ln w="9525" cap="flat">
              <a:solidFill>
                <a:srgbClr val="F9F9F9"/>
              </a:solidFill>
              <a:prstDash val="solid"/>
              <a:round/>
            </a:ln>
            <a:effectLst/>
          </c:spPr>
          <c:dPt>
            <c:idx val="0"/>
            <c:bubble3D val="0"/>
            <c:spPr>
              <a:solidFill>
                <a:srgbClr val="E0567A"/>
              </a:solidFill>
              <a:effectLst/>
            </c:spPr>
            <c:extLst>
              <c:ext xmlns:c16="http://schemas.microsoft.com/office/drawing/2014/chart" uri="{C3380CC4-5D6E-409C-BE32-E72D297353CC}">
                <c16:uniqueId val="{00000001-0721-4B13-A117-0784FFF2968A}"/>
              </c:ext>
            </c:extLst>
          </c:dPt>
          <c:dPt>
            <c:idx val="1"/>
            <c:bubble3D val="0"/>
            <c:spPr>
              <a:solidFill>
                <a:srgbClr val="3A2778"/>
              </a:solidFill>
              <a:effectLst/>
            </c:spPr>
            <c:extLst>
              <c:ext xmlns:c16="http://schemas.microsoft.com/office/drawing/2014/chart" uri="{C3380CC4-5D6E-409C-BE32-E72D297353CC}">
                <c16:uniqueId val="{00000003-0721-4B13-A117-0784FFF2968A}"/>
              </c:ext>
            </c:extLst>
          </c:dPt>
          <c:dLbls>
            <c:dLbl>
              <c:idx val="0"/>
              <c:numFmt formatCode="0%" sourceLinked="0"/>
              <c:spPr/>
              <c:txPr>
                <a:bodyPr/>
                <a:lstStyle/>
                <a:p>
                  <a:pPr>
                    <a:defRPr sz="14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721-4B13-A117-0784FFF2968A}"/>
                </c:ext>
              </c:extLst>
            </c:dLbl>
            <c:dLbl>
              <c:idx val="1"/>
              <c:numFmt formatCode="0%" sourceLinked="0"/>
              <c:spPr/>
              <c:txPr>
                <a:bodyPr/>
                <a:lstStyle/>
                <a:p>
                  <a:pPr>
                    <a:defRPr sz="14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721-4B13-A117-0784FFF2968A}"/>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Women</c:v>
                </c:pt>
                <c:pt idx="1">
                  <c:v>Men</c:v>
                </c:pt>
              </c:strCache>
            </c:strRef>
          </c:cat>
          <c:val>
            <c:numRef>
              <c:f>Sheet1!$B$2:$B$3</c:f>
              <c:numCache>
                <c:formatCode>General</c:formatCode>
                <c:ptCount val="2"/>
                <c:pt idx="0">
                  <c:v>13562773</c:v>
                </c:pt>
                <c:pt idx="1">
                  <c:v>7613604</c:v>
                </c:pt>
              </c:numCache>
            </c:numRef>
          </c:val>
          <c:extLst>
            <c:ext xmlns:c16="http://schemas.microsoft.com/office/drawing/2014/chart" uri="{C3380CC4-5D6E-409C-BE32-E72D297353CC}">
              <c16:uniqueId val="{00000004-0721-4B13-A117-0784FFF2968A}"/>
            </c:ext>
          </c:extLst>
        </c:ser>
        <c:dLbls>
          <c:showLegendKey val="0"/>
          <c:showVal val="0"/>
          <c:showCatName val="0"/>
          <c:showSerName val="0"/>
          <c:showPercent val="0"/>
          <c:showBubbleSize val="0"/>
          <c:showLeaderLines val="0"/>
        </c:dLbls>
        <c:firstSliceAng val="0"/>
        <c:holeSize val="52"/>
      </c:doughnutChart>
      <c:spPr>
        <a:solidFill>
          <a:srgbClr val="FFFFFF"/>
        </a:solidFill>
        <a:ln w="12700" cap="flat">
          <a:solidFill>
            <a:srgbClr val="FFFFFF"/>
          </a:solidFill>
        </a:ln>
        <a:effectLst/>
      </c:spPr>
    </c:plotArea>
    <c:legend>
      <c:legendPos val="b"/>
      <c:overlay val="0"/>
      <c:txPr>
        <a:bodyPr/>
        <a:lstStyle/>
        <a:p>
          <a:pPr>
            <a:defRPr sz="1200">
              <a:solidFill>
                <a:srgbClr val="4B4468"/>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140"/>
                </a:solidFill>
                <a:latin typeface="Cambria"/>
              </a:defRPr>
            </a:pPr>
            <a:r>
              <a:rPr lang="en-US" sz="1400" b="0" i="0" u="none" strike="noStrike">
                <a:solidFill>
                  <a:srgbClr val="1B1140"/>
                </a:solidFill>
                <a:latin typeface="Cambria"/>
              </a:rPr>
              <a:t>Number of orders by status</a:t>
            </a:r>
          </a:p>
        </c:rich>
      </c:tx>
      <c:overlay val="0"/>
    </c:title>
    <c:autoTitleDeleted val="0"/>
    <c:plotArea>
      <c:layout/>
      <c:barChart>
        <c:barDir val="bar"/>
        <c:grouping val="clustered"/>
        <c:varyColors val="0"/>
        <c:ser>
          <c:idx val="0"/>
          <c:order val="0"/>
          <c:tx>
            <c:strRef>
              <c:f>Sheet1!$B$1</c:f>
              <c:strCache>
                <c:ptCount val="1"/>
                <c:pt idx="0">
                  <c:v>Orders</c:v>
                </c:pt>
              </c:strCache>
            </c:strRef>
          </c:tx>
          <c:spPr>
            <a:solidFill>
              <a:srgbClr val="128C8A"/>
            </a:solidFill>
            <a:effectLst/>
          </c:spPr>
          <c:invertIfNegative val="0"/>
          <c:dLbls>
            <c:numFmt formatCode="#,##0" sourceLinked="0"/>
            <c:spPr>
              <a:noFill/>
              <a:ln>
                <a:noFill/>
              </a:ln>
              <a:effectLst/>
            </c:spPr>
            <c:txPr>
              <a:bodyPr/>
              <a:lstStyle/>
              <a:p>
                <a:pPr>
                  <a:defRPr sz="1100" b="0" i="0" u="none" strike="noStrike">
                    <a:solidFill>
                      <a:srgbClr val="4B446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Delivered</c:v>
                </c:pt>
                <c:pt idx="1">
                  <c:v>Returned</c:v>
                </c:pt>
                <c:pt idx="2">
                  <c:v>Cancelled</c:v>
                </c:pt>
                <c:pt idx="3">
                  <c:v>Refunded</c:v>
                </c:pt>
              </c:strCache>
            </c:strRef>
          </c:cat>
          <c:val>
            <c:numRef>
              <c:f>Sheet1!$B$2:$B$5</c:f>
              <c:numCache>
                <c:formatCode>General</c:formatCode>
                <c:ptCount val="4"/>
                <c:pt idx="0">
                  <c:v>28641</c:v>
                </c:pt>
                <c:pt idx="1">
                  <c:v>1045</c:v>
                </c:pt>
                <c:pt idx="2">
                  <c:v>844</c:v>
                </c:pt>
                <c:pt idx="3">
                  <c:v>517</c:v>
                </c:pt>
              </c:numCache>
            </c:numRef>
          </c:val>
          <c:extLst>
            <c:ext xmlns:c16="http://schemas.microsoft.com/office/drawing/2014/chart" uri="{C3380CC4-5D6E-409C-BE32-E72D297353CC}">
              <c16:uniqueId val="{00000000-F829-45AB-A558-3DD26C032EC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446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D9D0E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4468"/>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140"/>
                </a:solidFill>
                <a:latin typeface="Cambria"/>
              </a:defRPr>
            </a:pPr>
            <a:r>
              <a:rPr lang="en-IN" sz="1400" b="0" i="0" u="none" strike="noStrike">
                <a:solidFill>
                  <a:srgbClr val="1B1140"/>
                </a:solidFill>
                <a:latin typeface="Cambria"/>
              </a:rPr>
              <a:t>Sales value by state</a:t>
            </a:r>
          </a:p>
        </c:rich>
      </c:tx>
      <c:overlay val="0"/>
    </c:title>
    <c:autoTitleDeleted val="0"/>
    <c:plotArea>
      <c:layout/>
      <c:barChart>
        <c:barDir val="bar"/>
        <c:grouping val="clustered"/>
        <c:varyColors val="0"/>
        <c:ser>
          <c:idx val="0"/>
          <c:order val="0"/>
          <c:tx>
            <c:strRef>
              <c:f>Sheet1!$B$1</c:f>
              <c:strCache>
                <c:ptCount val="1"/>
                <c:pt idx="0">
                  <c:v>Sales (Rs)</c:v>
                </c:pt>
              </c:strCache>
            </c:strRef>
          </c:tx>
          <c:spPr>
            <a:solidFill>
              <a:srgbClr val="F3A63B"/>
            </a:solidFill>
            <a:effectLst/>
          </c:spPr>
          <c:invertIfNegative val="0"/>
          <c:dPt>
            <c:idx val="0"/>
            <c:invertIfNegative val="0"/>
            <c:bubble3D val="0"/>
            <c:extLst>
              <c:ext xmlns:c16="http://schemas.microsoft.com/office/drawing/2014/chart" uri="{C3380CC4-5D6E-409C-BE32-E72D297353CC}">
                <c16:uniqueId val="{00000001-4E4D-4147-9D00-7BE58FF7E7FF}"/>
              </c:ext>
            </c:extLst>
          </c:dPt>
          <c:dPt>
            <c:idx val="1"/>
            <c:invertIfNegative val="0"/>
            <c:bubble3D val="0"/>
            <c:spPr>
              <a:solidFill>
                <a:srgbClr val="3A2778"/>
              </a:solidFill>
              <a:effectLst/>
            </c:spPr>
            <c:extLst>
              <c:ext xmlns:c16="http://schemas.microsoft.com/office/drawing/2014/chart" uri="{C3380CC4-5D6E-409C-BE32-E72D297353CC}">
                <c16:uniqueId val="{00000003-4E4D-4147-9D00-7BE58FF7E7FF}"/>
              </c:ext>
            </c:extLst>
          </c:dPt>
          <c:dPt>
            <c:idx val="2"/>
            <c:invertIfNegative val="0"/>
            <c:bubble3D val="0"/>
            <c:spPr>
              <a:solidFill>
                <a:srgbClr val="3A2778"/>
              </a:solidFill>
              <a:effectLst/>
            </c:spPr>
            <c:extLst>
              <c:ext xmlns:c16="http://schemas.microsoft.com/office/drawing/2014/chart" uri="{C3380CC4-5D6E-409C-BE32-E72D297353CC}">
                <c16:uniqueId val="{00000005-4E4D-4147-9D00-7BE58FF7E7FF}"/>
              </c:ext>
            </c:extLst>
          </c:dPt>
          <c:dPt>
            <c:idx val="3"/>
            <c:invertIfNegative val="0"/>
            <c:bubble3D val="0"/>
            <c:spPr>
              <a:solidFill>
                <a:srgbClr val="3A2778"/>
              </a:solidFill>
              <a:effectLst/>
            </c:spPr>
            <c:extLst>
              <c:ext xmlns:c16="http://schemas.microsoft.com/office/drawing/2014/chart" uri="{C3380CC4-5D6E-409C-BE32-E72D297353CC}">
                <c16:uniqueId val="{00000007-4E4D-4147-9D00-7BE58FF7E7FF}"/>
              </c:ext>
            </c:extLst>
          </c:dPt>
          <c:dPt>
            <c:idx val="4"/>
            <c:invertIfNegative val="0"/>
            <c:bubble3D val="0"/>
            <c:spPr>
              <a:solidFill>
                <a:srgbClr val="3A2778"/>
              </a:solidFill>
              <a:effectLst/>
            </c:spPr>
            <c:extLst>
              <c:ext xmlns:c16="http://schemas.microsoft.com/office/drawing/2014/chart" uri="{C3380CC4-5D6E-409C-BE32-E72D297353CC}">
                <c16:uniqueId val="{00000009-4E4D-4147-9D00-7BE58FF7E7FF}"/>
              </c:ext>
            </c:extLst>
          </c:dPt>
          <c:dLbls>
            <c:numFmt formatCode="#,##0" sourceLinked="0"/>
            <c:spPr>
              <a:noFill/>
              <a:ln>
                <a:noFill/>
              </a:ln>
              <a:effectLst/>
            </c:spPr>
            <c:txPr>
              <a:bodyPr/>
              <a:lstStyle/>
              <a:p>
                <a:pPr>
                  <a:defRPr sz="1050" b="0" i="0" u="none" strike="noStrike">
                    <a:solidFill>
                      <a:srgbClr val="4B446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Maharashtra</c:v>
                </c:pt>
                <c:pt idx="1">
                  <c:v>Karnataka</c:v>
                </c:pt>
                <c:pt idx="2">
                  <c:v>Uttar Pradesh</c:v>
                </c:pt>
                <c:pt idx="3">
                  <c:v>Telangana</c:v>
                </c:pt>
                <c:pt idx="4">
                  <c:v>Tamil Nadu</c:v>
                </c:pt>
              </c:strCache>
            </c:strRef>
          </c:cat>
          <c:val>
            <c:numRef>
              <c:f>Sheet1!$B$2:$B$6</c:f>
              <c:numCache>
                <c:formatCode>General</c:formatCode>
                <c:ptCount val="5"/>
                <c:pt idx="0">
                  <c:v>2990221</c:v>
                </c:pt>
                <c:pt idx="1">
                  <c:v>2646358</c:v>
                </c:pt>
                <c:pt idx="2">
                  <c:v>2104659</c:v>
                </c:pt>
                <c:pt idx="3">
                  <c:v>1712439</c:v>
                </c:pt>
                <c:pt idx="4">
                  <c:v>1678877</c:v>
                </c:pt>
              </c:numCache>
            </c:numRef>
          </c:val>
          <c:extLst>
            <c:ext xmlns:c16="http://schemas.microsoft.com/office/drawing/2014/chart" uri="{C3380CC4-5D6E-409C-BE32-E72D297353CC}">
              <c16:uniqueId val="{0000000A-4E4D-4147-9D00-7BE58FF7E7F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446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D9D0E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4468"/>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140"/>
                </a:solidFill>
                <a:latin typeface="Cambria"/>
              </a:defRPr>
            </a:pPr>
            <a:r>
              <a:rPr lang="en-IN" sz="1400" b="0" i="0" u="none" strike="noStrike">
                <a:solidFill>
                  <a:srgbClr val="1B1140"/>
                </a:solidFill>
                <a:latin typeface="Cambria"/>
              </a:rPr>
              <a:t>Share of all orders (%)</a:t>
            </a:r>
          </a:p>
        </c:rich>
      </c:tx>
      <c:overlay val="0"/>
    </c:title>
    <c:autoTitleDeleted val="0"/>
    <c:plotArea>
      <c:layout/>
      <c:barChart>
        <c:barDir val="col"/>
        <c:grouping val="clustered"/>
        <c:varyColors val="0"/>
        <c:ser>
          <c:idx val="0"/>
          <c:order val="0"/>
          <c:tx>
            <c:strRef>
              <c:f>Sheet1!$B$1</c:f>
              <c:strCache>
                <c:ptCount val="1"/>
                <c:pt idx="0">
                  <c:v>Women</c:v>
                </c:pt>
              </c:strCache>
            </c:strRef>
          </c:tx>
          <c:spPr>
            <a:solidFill>
              <a:srgbClr val="E0567A"/>
            </a:solidFill>
            <a:effectLst/>
          </c:spPr>
          <c:invertIfNegative val="0"/>
          <c:dLbls>
            <c:numFmt formatCode="#,##0" sourceLinked="0"/>
            <c:spPr>
              <a:noFill/>
              <a:ln>
                <a:noFill/>
              </a:ln>
              <a:effectLst/>
            </c:spPr>
            <c:txPr>
              <a:bodyPr/>
              <a:lstStyle/>
              <a:p>
                <a:pPr>
                  <a:defRPr sz="1050" b="0" i="0" u="none" strike="noStrike">
                    <a:solidFill>
                      <a:srgbClr val="4B446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Adult</c:v>
                </c:pt>
                <c:pt idx="1">
                  <c:v>Teenager</c:v>
                </c:pt>
                <c:pt idx="2">
                  <c:v>Senior</c:v>
                </c:pt>
              </c:strCache>
            </c:strRef>
          </c:cat>
          <c:val>
            <c:numRef>
              <c:f>Sheet1!$B$2:$B$4</c:f>
              <c:numCache>
                <c:formatCode>General</c:formatCode>
                <c:ptCount val="3"/>
                <c:pt idx="0">
                  <c:v>34.6</c:v>
                </c:pt>
                <c:pt idx="1">
                  <c:v>21.1</c:v>
                </c:pt>
                <c:pt idx="2">
                  <c:v>13.7</c:v>
                </c:pt>
              </c:numCache>
            </c:numRef>
          </c:val>
          <c:extLst>
            <c:ext xmlns:c16="http://schemas.microsoft.com/office/drawing/2014/chart" uri="{C3380CC4-5D6E-409C-BE32-E72D297353CC}">
              <c16:uniqueId val="{00000000-4810-4C83-A56D-16607B1A4C68}"/>
            </c:ext>
          </c:extLst>
        </c:ser>
        <c:ser>
          <c:idx val="1"/>
          <c:order val="1"/>
          <c:tx>
            <c:strRef>
              <c:f>Sheet1!$C$1</c:f>
              <c:strCache>
                <c:ptCount val="1"/>
                <c:pt idx="0">
                  <c:v>Men</c:v>
                </c:pt>
              </c:strCache>
            </c:strRef>
          </c:tx>
          <c:spPr>
            <a:solidFill>
              <a:srgbClr val="3A2778"/>
            </a:solidFill>
            <a:effectLst/>
          </c:spPr>
          <c:invertIfNegative val="0"/>
          <c:dLbls>
            <c:numFmt formatCode="#,##0" sourceLinked="0"/>
            <c:spPr>
              <a:noFill/>
              <a:ln>
                <a:noFill/>
              </a:ln>
              <a:effectLst/>
            </c:spPr>
            <c:txPr>
              <a:bodyPr/>
              <a:lstStyle/>
              <a:p>
                <a:pPr>
                  <a:defRPr sz="1050" b="0" i="0" u="none" strike="noStrike">
                    <a:solidFill>
                      <a:srgbClr val="4B446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Adult</c:v>
                </c:pt>
                <c:pt idx="1">
                  <c:v>Teenager</c:v>
                </c:pt>
                <c:pt idx="2">
                  <c:v>Senior</c:v>
                </c:pt>
              </c:strCache>
            </c:strRef>
          </c:cat>
          <c:val>
            <c:numRef>
              <c:f>Sheet1!$C$2:$C$4</c:f>
              <c:numCache>
                <c:formatCode>General</c:formatCode>
                <c:ptCount val="3"/>
                <c:pt idx="0">
                  <c:v>15.5</c:v>
                </c:pt>
                <c:pt idx="1">
                  <c:v>9.1999999999999993</c:v>
                </c:pt>
                <c:pt idx="2">
                  <c:v>5.9</c:v>
                </c:pt>
              </c:numCache>
            </c:numRef>
          </c:val>
          <c:extLst>
            <c:ext xmlns:c16="http://schemas.microsoft.com/office/drawing/2014/chart" uri="{C3380CC4-5D6E-409C-BE32-E72D297353CC}">
              <c16:uniqueId val="{00000001-4810-4C83-A56D-16607B1A4C6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4468"/>
                </a:solidFill>
                <a:latin typeface="Calibri"/>
              </a:defRPr>
            </a:pPr>
            <a:endParaRPr lang="en-US"/>
          </a:p>
        </c:txPr>
        <c:crossAx val="2094734552"/>
        <c:crosses val="autoZero"/>
        <c:auto val="1"/>
        <c:lblAlgn val="ctr"/>
        <c:lblOffset val="100"/>
        <c:noMultiLvlLbl val="1"/>
      </c:catAx>
      <c:valAx>
        <c:axId val="2094734552"/>
        <c:scaling>
          <c:orientation val="minMax"/>
          <c:max val="40"/>
        </c:scaling>
        <c:delete val="0"/>
        <c:axPos val="l"/>
        <c:majorGridlines>
          <c:spPr>
            <a:ln w="12700" cap="flat">
              <a:solidFill>
                <a:srgbClr val="D9D0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4468"/>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legend>
      <c:legendPos val="t"/>
      <c:overlay val="0"/>
      <c:txPr>
        <a:bodyPr/>
        <a:lstStyle/>
        <a:p>
          <a:pPr>
            <a:defRPr sz="1100">
              <a:solidFill>
                <a:srgbClr val="4B4468"/>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140"/>
                </a:solidFill>
                <a:latin typeface="Cambria"/>
              </a:defRPr>
            </a:pPr>
            <a:r>
              <a:rPr lang="en-US" sz="1400" b="0" i="0" u="none" strike="noStrike">
                <a:solidFill>
                  <a:srgbClr val="1B1140"/>
                </a:solidFill>
                <a:latin typeface="Cambria"/>
              </a:rPr>
              <a:t>Share of orders by channel</a:t>
            </a:r>
          </a:p>
        </c:rich>
      </c:tx>
      <c:overlay val="0"/>
    </c:title>
    <c:autoTitleDeleted val="0"/>
    <c:plotArea>
      <c:layout/>
      <c:pie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F3A63B"/>
              </a:solidFill>
              <a:effectLst/>
            </c:spPr>
            <c:extLst>
              <c:ext xmlns:c16="http://schemas.microsoft.com/office/drawing/2014/chart" uri="{C3380CC4-5D6E-409C-BE32-E72D297353CC}">
                <c16:uniqueId val="{00000001-FF08-4BB3-A157-27718FB93865}"/>
              </c:ext>
            </c:extLst>
          </c:dPt>
          <c:dPt>
            <c:idx val="1"/>
            <c:bubble3D val="0"/>
            <c:spPr>
              <a:solidFill>
                <a:srgbClr val="E0567A"/>
              </a:solidFill>
              <a:effectLst/>
            </c:spPr>
            <c:extLst>
              <c:ext xmlns:c16="http://schemas.microsoft.com/office/drawing/2014/chart" uri="{C3380CC4-5D6E-409C-BE32-E72D297353CC}">
                <c16:uniqueId val="{00000003-FF08-4BB3-A157-27718FB93865}"/>
              </c:ext>
            </c:extLst>
          </c:dPt>
          <c:dPt>
            <c:idx val="2"/>
            <c:bubble3D val="0"/>
            <c:spPr>
              <a:solidFill>
                <a:srgbClr val="3A2778"/>
              </a:solidFill>
              <a:effectLst/>
            </c:spPr>
            <c:extLst>
              <c:ext xmlns:c16="http://schemas.microsoft.com/office/drawing/2014/chart" uri="{C3380CC4-5D6E-409C-BE32-E72D297353CC}">
                <c16:uniqueId val="{00000005-FF08-4BB3-A157-27718FB93865}"/>
              </c:ext>
            </c:extLst>
          </c:dPt>
          <c:dPt>
            <c:idx val="3"/>
            <c:bubble3D val="0"/>
            <c:spPr>
              <a:solidFill>
                <a:srgbClr val="128C8A"/>
              </a:solidFill>
              <a:effectLst/>
            </c:spPr>
            <c:extLst>
              <c:ext xmlns:c16="http://schemas.microsoft.com/office/drawing/2014/chart" uri="{C3380CC4-5D6E-409C-BE32-E72D297353CC}">
                <c16:uniqueId val="{00000007-FF08-4BB3-A157-27718FB93865}"/>
              </c:ext>
            </c:extLst>
          </c:dPt>
          <c:dPt>
            <c:idx val="4"/>
            <c:bubble3D val="0"/>
            <c:spPr>
              <a:solidFill>
                <a:srgbClr val="5A2350"/>
              </a:solidFill>
              <a:effectLst/>
            </c:spPr>
            <c:extLst>
              <c:ext xmlns:c16="http://schemas.microsoft.com/office/drawing/2014/chart" uri="{C3380CC4-5D6E-409C-BE32-E72D297353CC}">
                <c16:uniqueId val="{00000009-FF08-4BB3-A157-27718FB93865}"/>
              </c:ext>
            </c:extLst>
          </c:dPt>
          <c:dPt>
            <c:idx val="5"/>
            <c:bubble3D val="0"/>
            <c:spPr>
              <a:solidFill>
                <a:srgbClr val="8C7BC4"/>
              </a:solidFill>
              <a:effectLst/>
            </c:spPr>
            <c:extLst>
              <c:ext xmlns:c16="http://schemas.microsoft.com/office/drawing/2014/chart" uri="{C3380CC4-5D6E-409C-BE32-E72D297353CC}">
                <c16:uniqueId val="{0000000B-FF08-4BB3-A157-27718FB93865}"/>
              </c:ext>
            </c:extLst>
          </c:dPt>
          <c:dPt>
            <c:idx val="6"/>
            <c:bubble3D val="0"/>
            <c:spPr>
              <a:solidFill>
                <a:srgbClr val="B8AEDC"/>
              </a:solidFill>
              <a:effectLst/>
            </c:spPr>
            <c:extLst>
              <c:ext xmlns:c16="http://schemas.microsoft.com/office/drawing/2014/chart" uri="{C3380CC4-5D6E-409C-BE32-E72D297353CC}">
                <c16:uniqueId val="{0000000D-FF08-4BB3-A157-27718FB93865}"/>
              </c:ext>
            </c:extLst>
          </c:dPt>
          <c:dLbls>
            <c:dLbl>
              <c:idx val="0"/>
              <c:numFmt formatCode="0%" sourceLinked="0"/>
              <c:spPr/>
              <c:txPr>
                <a:bodyPr/>
                <a:lstStyle/>
                <a:p>
                  <a:pPr>
                    <a:defRPr sz="11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F08-4BB3-A157-27718FB93865}"/>
                </c:ext>
              </c:extLst>
            </c:dLbl>
            <c:dLbl>
              <c:idx val="1"/>
              <c:numFmt formatCode="0%" sourceLinked="0"/>
              <c:spPr/>
              <c:txPr>
                <a:bodyPr/>
                <a:lstStyle/>
                <a:p>
                  <a:pPr>
                    <a:defRPr sz="11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F08-4BB3-A157-27718FB93865}"/>
                </c:ext>
              </c:extLst>
            </c:dLbl>
            <c:dLbl>
              <c:idx val="2"/>
              <c:numFmt formatCode="0%" sourceLinked="0"/>
              <c:spPr/>
              <c:txPr>
                <a:bodyPr/>
                <a:lstStyle/>
                <a:p>
                  <a:pPr>
                    <a:defRPr sz="11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F08-4BB3-A157-27718FB93865}"/>
                </c:ext>
              </c:extLst>
            </c:dLbl>
            <c:dLbl>
              <c:idx val="3"/>
              <c:numFmt formatCode="0%" sourceLinked="0"/>
              <c:spPr/>
              <c:txPr>
                <a:bodyPr/>
                <a:lstStyle/>
                <a:p>
                  <a:pPr>
                    <a:defRPr sz="11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FF08-4BB3-A157-27718FB93865}"/>
                </c:ext>
              </c:extLst>
            </c:dLbl>
            <c:dLbl>
              <c:idx val="4"/>
              <c:numFmt formatCode="0%" sourceLinked="0"/>
              <c:spPr/>
              <c:txPr>
                <a:bodyPr/>
                <a:lstStyle/>
                <a:p>
                  <a:pPr>
                    <a:defRPr sz="11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FF08-4BB3-A157-27718FB93865}"/>
                </c:ext>
              </c:extLst>
            </c:dLbl>
            <c:dLbl>
              <c:idx val="5"/>
              <c:numFmt formatCode="0%" sourceLinked="0"/>
              <c:spPr/>
              <c:txPr>
                <a:bodyPr/>
                <a:lstStyle/>
                <a:p>
                  <a:pPr>
                    <a:defRPr sz="11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FF08-4BB3-A157-27718FB93865}"/>
                </c:ext>
              </c:extLst>
            </c:dLbl>
            <c:dLbl>
              <c:idx val="6"/>
              <c:numFmt formatCode="0%" sourceLinked="0"/>
              <c:spPr/>
              <c:txPr>
                <a:bodyPr/>
                <a:lstStyle/>
                <a:p>
                  <a:pPr>
                    <a:defRPr sz="1100" b="1"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FF08-4BB3-A157-27718FB93865}"/>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Amazon</c:v>
                </c:pt>
                <c:pt idx="1">
                  <c:v>Myntra</c:v>
                </c:pt>
                <c:pt idx="2">
                  <c:v>Flipkart</c:v>
                </c:pt>
                <c:pt idx="3">
                  <c:v>Ajio</c:v>
                </c:pt>
                <c:pt idx="4">
                  <c:v>Nalli</c:v>
                </c:pt>
                <c:pt idx="5">
                  <c:v>Meesho</c:v>
                </c:pt>
                <c:pt idx="6">
                  <c:v>Others</c:v>
                </c:pt>
              </c:strCache>
            </c:strRef>
          </c:cat>
          <c:val>
            <c:numRef>
              <c:f>Sheet1!$B$2:$B$8</c:f>
              <c:numCache>
                <c:formatCode>General</c:formatCode>
                <c:ptCount val="7"/>
                <c:pt idx="0">
                  <c:v>35.5</c:v>
                </c:pt>
                <c:pt idx="1">
                  <c:v>23.4</c:v>
                </c:pt>
                <c:pt idx="2">
                  <c:v>21.6</c:v>
                </c:pt>
                <c:pt idx="3">
                  <c:v>6.2</c:v>
                </c:pt>
                <c:pt idx="4">
                  <c:v>4.8</c:v>
                </c:pt>
                <c:pt idx="5">
                  <c:v>4.5</c:v>
                </c:pt>
                <c:pt idx="6">
                  <c:v>4.0999999999999996</c:v>
                </c:pt>
              </c:numCache>
            </c:numRef>
          </c:val>
          <c:extLst>
            <c:ext xmlns:c16="http://schemas.microsoft.com/office/drawing/2014/chart" uri="{C3380CC4-5D6E-409C-BE32-E72D297353CC}">
              <c16:uniqueId val="{0000000E-FF08-4BB3-A157-27718FB93865}"/>
            </c:ext>
          </c:extLst>
        </c:ser>
        <c:dLbls>
          <c:showLegendKey val="0"/>
          <c:showVal val="0"/>
          <c:showCatName val="0"/>
          <c:showSerName val="0"/>
          <c:showPercent val="0"/>
          <c:showBubbleSize val="0"/>
          <c:showLeaderLines val="0"/>
        </c:dLbls>
        <c:firstSliceAng val="0"/>
      </c:pieChart>
      <c:spPr>
        <a:solidFill>
          <a:srgbClr val="FFFFFF"/>
        </a:solidFill>
        <a:ln w="12700" cap="flat">
          <a:solidFill>
            <a:srgbClr val="FFFFFF"/>
          </a:solidFill>
        </a:ln>
        <a:effectLst/>
      </c:spPr>
    </c:plotArea>
    <c:legend>
      <c:legendPos val="r"/>
      <c:overlay val="0"/>
      <c:txPr>
        <a:bodyPr/>
        <a:lstStyle/>
        <a:p>
          <a:pPr>
            <a:defRPr sz="1150">
              <a:solidFill>
                <a:srgbClr val="4B4468"/>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B1140"/>
                </a:solidFill>
                <a:latin typeface="Cambria"/>
              </a:defRPr>
            </a:pPr>
            <a:r>
              <a:rPr lang="en-IN" sz="1400" b="0" i="0" u="none" strike="noStrike">
                <a:solidFill>
                  <a:srgbClr val="1B1140"/>
                </a:solidFill>
                <a:latin typeface="Cambria"/>
              </a:rPr>
              <a:t>Sales by product category</a:t>
            </a:r>
          </a:p>
        </c:rich>
      </c:tx>
      <c:overlay val="0"/>
    </c:title>
    <c:autoTitleDeleted val="0"/>
    <c:plotArea>
      <c:layout/>
      <c:barChart>
        <c:barDir val="col"/>
        <c:grouping val="clustered"/>
        <c:varyColors val="0"/>
        <c:ser>
          <c:idx val="0"/>
          <c:order val="0"/>
          <c:tx>
            <c:strRef>
              <c:f>Sheet1!$B$1</c:f>
              <c:strCache>
                <c:ptCount val="1"/>
                <c:pt idx="0">
                  <c:v>Sales (Rs)</c:v>
                </c:pt>
              </c:strCache>
            </c:strRef>
          </c:tx>
          <c:spPr>
            <a:solidFill>
              <a:srgbClr val="F3A63B"/>
            </a:solidFill>
            <a:effectLst/>
          </c:spPr>
          <c:invertIfNegative val="0"/>
          <c:dPt>
            <c:idx val="0"/>
            <c:invertIfNegative val="0"/>
            <c:bubble3D val="0"/>
            <c:extLst>
              <c:ext xmlns:c16="http://schemas.microsoft.com/office/drawing/2014/chart" uri="{C3380CC4-5D6E-409C-BE32-E72D297353CC}">
                <c16:uniqueId val="{00000001-2ADF-44FA-905C-F9DDCE4FED6C}"/>
              </c:ext>
            </c:extLst>
          </c:dPt>
          <c:dPt>
            <c:idx val="1"/>
            <c:invertIfNegative val="0"/>
            <c:bubble3D val="0"/>
            <c:spPr>
              <a:solidFill>
                <a:srgbClr val="3A2778"/>
              </a:solidFill>
              <a:effectLst/>
            </c:spPr>
            <c:extLst>
              <c:ext xmlns:c16="http://schemas.microsoft.com/office/drawing/2014/chart" uri="{C3380CC4-5D6E-409C-BE32-E72D297353CC}">
                <c16:uniqueId val="{00000003-2ADF-44FA-905C-F9DDCE4FED6C}"/>
              </c:ext>
            </c:extLst>
          </c:dPt>
          <c:dPt>
            <c:idx val="2"/>
            <c:invertIfNegative val="0"/>
            <c:bubble3D val="0"/>
            <c:spPr>
              <a:solidFill>
                <a:srgbClr val="3A2778"/>
              </a:solidFill>
              <a:effectLst/>
            </c:spPr>
            <c:extLst>
              <c:ext xmlns:c16="http://schemas.microsoft.com/office/drawing/2014/chart" uri="{C3380CC4-5D6E-409C-BE32-E72D297353CC}">
                <c16:uniqueId val="{00000005-2ADF-44FA-905C-F9DDCE4FED6C}"/>
              </c:ext>
            </c:extLst>
          </c:dPt>
          <c:dPt>
            <c:idx val="3"/>
            <c:invertIfNegative val="0"/>
            <c:bubble3D val="0"/>
            <c:spPr>
              <a:solidFill>
                <a:srgbClr val="3A2778"/>
              </a:solidFill>
              <a:effectLst/>
            </c:spPr>
            <c:extLst>
              <c:ext xmlns:c16="http://schemas.microsoft.com/office/drawing/2014/chart" uri="{C3380CC4-5D6E-409C-BE32-E72D297353CC}">
                <c16:uniqueId val="{00000007-2ADF-44FA-905C-F9DDCE4FED6C}"/>
              </c:ext>
            </c:extLst>
          </c:dPt>
          <c:dPt>
            <c:idx val="4"/>
            <c:invertIfNegative val="0"/>
            <c:bubble3D val="0"/>
            <c:spPr>
              <a:solidFill>
                <a:srgbClr val="3A2778"/>
              </a:solidFill>
              <a:effectLst/>
            </c:spPr>
            <c:extLst>
              <c:ext xmlns:c16="http://schemas.microsoft.com/office/drawing/2014/chart" uri="{C3380CC4-5D6E-409C-BE32-E72D297353CC}">
                <c16:uniqueId val="{00000009-2ADF-44FA-905C-F9DDCE4FED6C}"/>
              </c:ext>
            </c:extLst>
          </c:dPt>
          <c:dPt>
            <c:idx val="5"/>
            <c:invertIfNegative val="0"/>
            <c:bubble3D val="0"/>
            <c:spPr>
              <a:solidFill>
                <a:srgbClr val="3A2778"/>
              </a:solidFill>
              <a:effectLst/>
            </c:spPr>
            <c:extLst>
              <c:ext xmlns:c16="http://schemas.microsoft.com/office/drawing/2014/chart" uri="{C3380CC4-5D6E-409C-BE32-E72D297353CC}">
                <c16:uniqueId val="{0000000B-2ADF-44FA-905C-F9DDCE4FED6C}"/>
              </c:ext>
            </c:extLst>
          </c:dPt>
          <c:dLbls>
            <c:numFmt formatCode="#,##0" sourceLinked="0"/>
            <c:spPr>
              <a:noFill/>
              <a:ln>
                <a:noFill/>
              </a:ln>
              <a:effectLst/>
            </c:spPr>
            <c:txPr>
              <a:bodyPr/>
              <a:lstStyle/>
              <a:p>
                <a:pPr>
                  <a:defRPr sz="1000" b="0" i="0" u="none" strike="noStrike">
                    <a:solidFill>
                      <a:srgbClr val="4B446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Set</c:v>
                </c:pt>
                <c:pt idx="1">
                  <c:v>Kurta</c:v>
                </c:pt>
                <c:pt idx="2">
                  <c:v>Western Dress</c:v>
                </c:pt>
                <c:pt idx="3">
                  <c:v>Top</c:v>
                </c:pt>
                <c:pt idx="4">
                  <c:v>Saree</c:v>
                </c:pt>
                <c:pt idx="5">
                  <c:v>Other</c:v>
                </c:pt>
              </c:strCache>
            </c:strRef>
          </c:cat>
          <c:val>
            <c:numRef>
              <c:f>Sheet1!$B$2:$B$7</c:f>
              <c:numCache>
                <c:formatCode>General</c:formatCode>
                <c:ptCount val="6"/>
                <c:pt idx="0">
                  <c:v>10507546</c:v>
                </c:pt>
                <c:pt idx="1">
                  <c:v>4959377</c:v>
                </c:pt>
                <c:pt idx="2">
                  <c:v>3148836</c:v>
                </c:pt>
                <c:pt idx="3">
                  <c:v>1186199</c:v>
                </c:pt>
                <c:pt idx="4">
                  <c:v>1010471</c:v>
                </c:pt>
                <c:pt idx="5">
                  <c:v>363948</c:v>
                </c:pt>
              </c:numCache>
            </c:numRef>
          </c:val>
          <c:extLst>
            <c:ext xmlns:c16="http://schemas.microsoft.com/office/drawing/2014/chart" uri="{C3380CC4-5D6E-409C-BE32-E72D297353CC}">
              <c16:uniqueId val="{0000000C-2ADF-44FA-905C-F9DDCE4FED6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446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9D0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4468"/>
                </a:solidFill>
                <a:latin typeface="Calibri"/>
              </a:defRPr>
            </a:pPr>
            <a:endParaRPr lang="en-US"/>
          </a:p>
        </c:txPr>
        <c:crossAx val="2094734554"/>
        <c:crosses val="autoZero"/>
        <c:crossBetween val="between"/>
      </c:valAx>
      <c:spPr>
        <a:solidFill>
          <a:srgbClr val="FFFFFF"/>
        </a:solid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077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Suraj Kumar, roll number 24EACCS711. Today I will present my data analytics class project — the annual sales report of Khushi Store for the year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sixteen sections of my presentation. First the background, then the six questions with charts, and finally the findings and my suggestions.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simple words: the store sells clothes online, each sale becomes one row of data, and my job was to make sense of 31,047 rows.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four headline numbers, then walk through the columns quickly. 31,047 orders, 2.12 crore rupees, 28,437 customers, average order 682 rupees.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came from the store owner. Every chart in this presentation answers one of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Emphasise that cleaning the data took the longest time and that pivot tables did the heavy summarising.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March — the tallest bar. Then point out that the orange order line follows the same shape, which means more customers, not higher prices.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answer clearly: March. Then explain the seasonal reason — weddings and festivals in the first quarter.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Nearly two-thirds of the money comes from women. This single fact shapes most of my recommendations later.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8 per cent failure rate. That is the weak point of the business and I return to it in the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half the revenue comes from just five states, so advertising money is best spent there.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store its customer profile: an adult woman aged roughly 30 to 49.</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risk too: depending on one website for a third of the business is risky if its fees or rules change.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not one of the six questions, but I added it because it tells the owner what to stock.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summary slide. If the teacher asks only one question, these seven lines are the answer.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suggestion comes straight from one of the charts. Link each one back to the number that proves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limitations shows good analysis. Mention the missing profit column especially.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confidently, repeat the one-line customer profile,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140"/>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1140"/>
          </a:solidFill>
          <a:ln/>
        </p:spPr>
      </p:sp>
      <p:sp>
        <p:nvSpPr>
          <p:cNvPr id="3" name="Shape 1"/>
          <p:cNvSpPr/>
          <p:nvPr/>
        </p:nvSpPr>
        <p:spPr>
          <a:xfrm>
            <a:off x="-2011680" y="-2926080"/>
            <a:ext cx="7772400" cy="7772400"/>
          </a:xfrm>
          <a:prstGeom prst="ellipse">
            <a:avLst/>
          </a:prstGeom>
          <a:solidFill>
            <a:srgbClr val="3A2778">
              <a:alpha val="45000"/>
            </a:srgbClr>
          </a:solidFill>
          <a:ln/>
        </p:spPr>
      </p:sp>
      <p:sp>
        <p:nvSpPr>
          <p:cNvPr id="4" name="Shape 2"/>
          <p:cNvSpPr/>
          <p:nvPr/>
        </p:nvSpPr>
        <p:spPr>
          <a:xfrm>
            <a:off x="7863840" y="3291840"/>
            <a:ext cx="6949440" cy="6949440"/>
          </a:xfrm>
          <a:prstGeom prst="ellipse">
            <a:avLst/>
          </a:prstGeom>
          <a:solidFill>
            <a:srgbClr val="5A2350">
              <a:alpha val="50000"/>
            </a:srgbClr>
          </a:solidFill>
          <a:ln/>
        </p:spPr>
      </p:sp>
      <p:sp>
        <p:nvSpPr>
          <p:cNvPr id="5" name="Text 3"/>
          <p:cNvSpPr txBox="1"/>
          <p:nvPr/>
        </p:nvSpPr>
        <p:spPr>
          <a:xfrm>
            <a:off x="731520" y="1234440"/>
            <a:ext cx="9144000" cy="274320"/>
          </a:xfrm>
          <a:prstGeom prst="rect">
            <a:avLst/>
          </a:prstGeom>
          <a:noFill/>
          <a:ln/>
        </p:spPr>
        <p:txBody>
          <a:bodyPr wrap="square" lIns="0" tIns="0" rIns="0" bIns="0" rtlCol="0" anchor="ctr"/>
          <a:lstStyle/>
          <a:p>
            <a:pPr marL="0" indent="0">
              <a:buNone/>
            </a:pPr>
            <a:r>
              <a:rPr lang="en-US" sz="1250" b="1" kern="0" spc="200" dirty="0">
                <a:solidFill>
                  <a:srgbClr val="F3A63B"/>
                </a:solidFill>
                <a:latin typeface="Calibri" pitchFamily="34" charset="0"/>
                <a:ea typeface="Calibri" pitchFamily="34" charset="-122"/>
                <a:cs typeface="Calibri" pitchFamily="34" charset="-120"/>
              </a:rPr>
              <a:t>CLASS PROJECT  ·  DATA ANALYTICS</a:t>
            </a:r>
            <a:endParaRPr lang="en-US" sz="1250" dirty="0"/>
          </a:p>
        </p:txBody>
      </p:sp>
      <p:sp>
        <p:nvSpPr>
          <p:cNvPr id="6" name="Text 4"/>
          <p:cNvSpPr txBox="1"/>
          <p:nvPr/>
        </p:nvSpPr>
        <p:spPr>
          <a:xfrm>
            <a:off x="685800" y="1600200"/>
            <a:ext cx="10515600" cy="86868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Khushi Store</a:t>
            </a:r>
            <a:endParaRPr lang="en-US" sz="5200" dirty="0"/>
          </a:p>
        </p:txBody>
      </p:sp>
      <p:sp>
        <p:nvSpPr>
          <p:cNvPr id="7" name="Text 5"/>
          <p:cNvSpPr txBox="1"/>
          <p:nvPr/>
        </p:nvSpPr>
        <p:spPr>
          <a:xfrm>
            <a:off x="685800" y="2395728"/>
            <a:ext cx="10515600" cy="777240"/>
          </a:xfrm>
          <a:prstGeom prst="rect">
            <a:avLst/>
          </a:prstGeom>
          <a:noFill/>
          <a:ln/>
        </p:spPr>
        <p:txBody>
          <a:bodyPr wrap="square" lIns="0" tIns="0" rIns="0" bIns="0" rtlCol="0" anchor="ctr"/>
          <a:lstStyle/>
          <a:p>
            <a:pPr marL="0" indent="0">
              <a:buNone/>
            </a:pPr>
            <a:r>
              <a:rPr lang="en-US" sz="4000" dirty="0">
                <a:solidFill>
                  <a:srgbClr val="F3A63B"/>
                </a:solidFill>
                <a:latin typeface="Cambria" pitchFamily="34" charset="0"/>
                <a:ea typeface="Cambria" pitchFamily="34" charset="-122"/>
                <a:cs typeface="Cambria" pitchFamily="34" charset="-120"/>
              </a:rPr>
              <a:t>Annual Sales Report 2026</a:t>
            </a:r>
            <a:endParaRPr lang="en-US" sz="4000" dirty="0"/>
          </a:p>
        </p:txBody>
      </p:sp>
      <p:sp>
        <p:nvSpPr>
          <p:cNvPr id="8" name="Shape 6"/>
          <p:cNvSpPr/>
          <p:nvPr/>
        </p:nvSpPr>
        <p:spPr>
          <a:xfrm>
            <a:off x="731520" y="3346704"/>
            <a:ext cx="960120" cy="54864"/>
          </a:xfrm>
          <a:prstGeom prst="rect">
            <a:avLst/>
          </a:prstGeom>
          <a:solidFill>
            <a:srgbClr val="F3A63B"/>
          </a:solidFill>
          <a:ln w="12700">
            <a:solidFill>
              <a:srgbClr val="333333"/>
            </a:solidFill>
            <a:prstDash val="solid"/>
          </a:ln>
        </p:spPr>
      </p:sp>
      <p:sp>
        <p:nvSpPr>
          <p:cNvPr id="9" name="Text 7"/>
          <p:cNvSpPr txBox="1"/>
          <p:nvPr/>
        </p:nvSpPr>
        <p:spPr>
          <a:xfrm>
            <a:off x="713232" y="3611880"/>
            <a:ext cx="7863840" cy="822960"/>
          </a:xfrm>
          <a:prstGeom prst="rect">
            <a:avLst/>
          </a:prstGeom>
          <a:noFill/>
          <a:ln/>
        </p:spPr>
        <p:txBody>
          <a:bodyPr wrap="square" lIns="0" tIns="0" rIns="0" bIns="0" rtlCol="0" anchor="ctr"/>
          <a:lstStyle/>
          <a:p>
            <a:pPr marL="0" indent="0">
              <a:lnSpc>
                <a:spcPts val="2200"/>
              </a:lnSpc>
              <a:buNone/>
            </a:pPr>
            <a:r>
              <a:rPr lang="en-US" sz="1500" dirty="0">
                <a:solidFill>
                  <a:srgbClr val="DCD4EE"/>
                </a:solidFill>
                <a:latin typeface="Calibri" pitchFamily="34" charset="0"/>
                <a:ea typeface="Calibri" pitchFamily="34" charset="-122"/>
                <a:cs typeface="Calibri" pitchFamily="34" charset="-120"/>
              </a:rPr>
              <a:t>Understanding who buys from Khushi Store, what they buy,</a:t>
            </a:r>
            <a:endParaRPr lang="en-US" sz="1500" dirty="0"/>
          </a:p>
          <a:p>
            <a:pPr marL="0" indent="0">
              <a:lnSpc>
                <a:spcPts val="2200"/>
              </a:lnSpc>
              <a:buNone/>
            </a:pPr>
            <a:r>
              <a:rPr lang="en-US" sz="1500" dirty="0">
                <a:solidFill>
                  <a:srgbClr val="DCD4EE"/>
                </a:solidFill>
                <a:latin typeface="Calibri" pitchFamily="34" charset="0"/>
                <a:ea typeface="Calibri" pitchFamily="34" charset="-122"/>
                <a:cs typeface="Calibri" pitchFamily="34" charset="-120"/>
              </a:rPr>
              <a:t>and how the store can sell more in 2027.</a:t>
            </a:r>
            <a:endParaRPr lang="en-US" sz="1500" dirty="0"/>
          </a:p>
        </p:txBody>
      </p:sp>
      <p:sp>
        <p:nvSpPr>
          <p:cNvPr id="10" name="Shape 8"/>
          <p:cNvSpPr/>
          <p:nvPr/>
        </p:nvSpPr>
        <p:spPr>
          <a:xfrm>
            <a:off x="731520" y="4892040"/>
            <a:ext cx="10698480" cy="0"/>
          </a:xfrm>
          <a:prstGeom prst="line">
            <a:avLst/>
          </a:prstGeom>
          <a:noFill/>
          <a:ln w="12700">
            <a:solidFill>
              <a:srgbClr val="6B5BA0"/>
            </a:solidFill>
            <a:prstDash val="solid"/>
          </a:ln>
        </p:spPr>
      </p:sp>
      <p:sp>
        <p:nvSpPr>
          <p:cNvPr id="11" name="Text 9"/>
          <p:cNvSpPr txBox="1"/>
          <p:nvPr/>
        </p:nvSpPr>
        <p:spPr>
          <a:xfrm>
            <a:off x="731520" y="5102352"/>
            <a:ext cx="2468880" cy="237744"/>
          </a:xfrm>
          <a:prstGeom prst="rect">
            <a:avLst/>
          </a:prstGeom>
          <a:noFill/>
          <a:ln/>
        </p:spPr>
        <p:txBody>
          <a:bodyPr wrap="square" lIns="0" tIns="0" rIns="0" bIns="0" rtlCol="0" anchor="ctr"/>
          <a:lstStyle/>
          <a:p>
            <a:pPr marL="0" indent="0">
              <a:buNone/>
            </a:pPr>
            <a:r>
              <a:rPr lang="en-US" sz="1100" dirty="0">
                <a:solidFill>
                  <a:srgbClr val="B8AEDC"/>
                </a:solidFill>
                <a:latin typeface="Calibri" pitchFamily="34" charset="0"/>
                <a:ea typeface="Calibri" pitchFamily="34" charset="-122"/>
                <a:cs typeface="Calibri" pitchFamily="34" charset="-120"/>
              </a:rPr>
              <a:t>Presented by</a:t>
            </a:r>
            <a:endParaRPr lang="en-US" sz="1100" dirty="0"/>
          </a:p>
        </p:txBody>
      </p:sp>
      <p:sp>
        <p:nvSpPr>
          <p:cNvPr id="12" name="Text 10"/>
          <p:cNvSpPr txBox="1"/>
          <p:nvPr/>
        </p:nvSpPr>
        <p:spPr>
          <a:xfrm>
            <a:off x="731520" y="5340096"/>
            <a:ext cx="246888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Suraj Kumar</a:t>
            </a:r>
            <a:endParaRPr lang="en-US" sz="1500" dirty="0"/>
          </a:p>
        </p:txBody>
      </p:sp>
      <p:sp>
        <p:nvSpPr>
          <p:cNvPr id="13" name="Text 11"/>
          <p:cNvSpPr txBox="1"/>
          <p:nvPr/>
        </p:nvSpPr>
        <p:spPr>
          <a:xfrm>
            <a:off x="3429000" y="5102352"/>
            <a:ext cx="2468880" cy="237744"/>
          </a:xfrm>
          <a:prstGeom prst="rect">
            <a:avLst/>
          </a:prstGeom>
          <a:noFill/>
          <a:ln/>
        </p:spPr>
        <p:txBody>
          <a:bodyPr wrap="square" lIns="0" tIns="0" rIns="0" bIns="0" rtlCol="0" anchor="ctr"/>
          <a:lstStyle/>
          <a:p>
            <a:pPr marL="0" indent="0">
              <a:buNone/>
            </a:pPr>
            <a:r>
              <a:rPr lang="en-US" sz="1100" dirty="0">
                <a:solidFill>
                  <a:srgbClr val="B8AEDC"/>
                </a:solidFill>
                <a:latin typeface="Calibri" pitchFamily="34" charset="0"/>
                <a:ea typeface="Calibri" pitchFamily="34" charset="-122"/>
                <a:cs typeface="Calibri" pitchFamily="34" charset="-120"/>
              </a:rPr>
              <a:t>Roll number</a:t>
            </a:r>
            <a:endParaRPr lang="en-US" sz="1100" dirty="0"/>
          </a:p>
        </p:txBody>
      </p:sp>
      <p:sp>
        <p:nvSpPr>
          <p:cNvPr id="14" name="Text 12"/>
          <p:cNvSpPr txBox="1"/>
          <p:nvPr/>
        </p:nvSpPr>
        <p:spPr>
          <a:xfrm>
            <a:off x="3429000" y="5340096"/>
            <a:ext cx="246888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24EACCS711</a:t>
            </a:r>
            <a:endParaRPr lang="en-US" sz="1500" dirty="0"/>
          </a:p>
        </p:txBody>
      </p:sp>
      <p:sp>
        <p:nvSpPr>
          <p:cNvPr id="15" name="Text 13"/>
          <p:cNvSpPr txBox="1"/>
          <p:nvPr/>
        </p:nvSpPr>
        <p:spPr>
          <a:xfrm>
            <a:off x="6126480" y="5102352"/>
            <a:ext cx="2468880" cy="237744"/>
          </a:xfrm>
          <a:prstGeom prst="rect">
            <a:avLst/>
          </a:prstGeom>
          <a:noFill/>
          <a:ln/>
        </p:spPr>
        <p:txBody>
          <a:bodyPr wrap="square" lIns="0" tIns="0" rIns="0" bIns="0" rtlCol="0" anchor="ctr"/>
          <a:lstStyle/>
          <a:p>
            <a:pPr marL="0" indent="0">
              <a:buNone/>
            </a:pPr>
            <a:r>
              <a:rPr lang="en-US" sz="1100" dirty="0">
                <a:solidFill>
                  <a:srgbClr val="B8AEDC"/>
                </a:solidFill>
                <a:latin typeface="Calibri" pitchFamily="34" charset="0"/>
                <a:ea typeface="Calibri" pitchFamily="34" charset="-122"/>
                <a:cs typeface="Calibri" pitchFamily="34" charset="-120"/>
              </a:rPr>
              <a:t>Orders analysed</a:t>
            </a:r>
            <a:endParaRPr lang="en-US" sz="1100" dirty="0"/>
          </a:p>
        </p:txBody>
      </p:sp>
      <p:sp>
        <p:nvSpPr>
          <p:cNvPr id="16" name="Text 14"/>
          <p:cNvSpPr txBox="1"/>
          <p:nvPr/>
        </p:nvSpPr>
        <p:spPr>
          <a:xfrm>
            <a:off x="6126480" y="5340096"/>
            <a:ext cx="246888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31,047</a:t>
            </a:r>
            <a:endParaRPr lang="en-US" sz="1500" dirty="0"/>
          </a:p>
        </p:txBody>
      </p:sp>
      <p:sp>
        <p:nvSpPr>
          <p:cNvPr id="17" name="Text 15"/>
          <p:cNvSpPr txBox="1"/>
          <p:nvPr/>
        </p:nvSpPr>
        <p:spPr>
          <a:xfrm>
            <a:off x="8823960" y="5102352"/>
            <a:ext cx="2468880" cy="237744"/>
          </a:xfrm>
          <a:prstGeom prst="rect">
            <a:avLst/>
          </a:prstGeom>
          <a:noFill/>
          <a:ln/>
        </p:spPr>
        <p:txBody>
          <a:bodyPr wrap="square" lIns="0" tIns="0" rIns="0" bIns="0" rtlCol="0" anchor="ctr"/>
          <a:lstStyle/>
          <a:p>
            <a:pPr marL="0" indent="0">
              <a:buNone/>
            </a:pPr>
            <a:r>
              <a:rPr lang="en-US" sz="1100" dirty="0">
                <a:solidFill>
                  <a:srgbClr val="B8AEDC"/>
                </a:solidFill>
                <a:latin typeface="Calibri" pitchFamily="34" charset="0"/>
                <a:ea typeface="Calibri" pitchFamily="34" charset="-122"/>
                <a:cs typeface="Calibri" pitchFamily="34" charset="-120"/>
              </a:rPr>
              <a:t>Total sales</a:t>
            </a:r>
            <a:endParaRPr lang="en-US" sz="1100" dirty="0"/>
          </a:p>
        </p:txBody>
      </p:sp>
      <p:sp>
        <p:nvSpPr>
          <p:cNvPr id="18" name="Text 16"/>
          <p:cNvSpPr txBox="1"/>
          <p:nvPr/>
        </p:nvSpPr>
        <p:spPr>
          <a:xfrm>
            <a:off x="8823960" y="5340096"/>
            <a:ext cx="246888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Rs 2.12 crore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140"/>
        </a:solidFill>
        <a:effectLst/>
      </p:bgPr>
    </p:bg>
    <p:spTree>
      <p:nvGrpSpPr>
        <p:cNvPr id="1" name=""/>
        <p:cNvGrpSpPr/>
        <p:nvPr/>
      </p:nvGrpSpPr>
      <p:grpSpPr>
        <a:xfrm>
          <a:off x="0" y="0"/>
          <a:ext cx="0" cy="0"/>
          <a:chOff x="0" y="0"/>
          <a:chExt cx="0" cy="0"/>
        </a:xfrm>
      </p:grpSpPr>
      <p:sp>
        <p:nvSpPr>
          <p:cNvPr id="2" name="Shape 0"/>
          <p:cNvSpPr/>
          <p:nvPr/>
        </p:nvSpPr>
        <p:spPr>
          <a:xfrm>
            <a:off x="0" y="17252"/>
            <a:ext cx="12188952" cy="6858000"/>
          </a:xfrm>
          <a:prstGeom prst="rect">
            <a:avLst/>
          </a:prstGeom>
          <a:solidFill>
            <a:srgbClr val="1B1140"/>
          </a:solidFill>
          <a:ln/>
        </p:spPr>
        <p:txBody>
          <a:bodyPr/>
          <a:lstStyle/>
          <a:p>
            <a:r>
              <a:rPr lang="en-IN" dirty="0"/>
              <a:t> </a:t>
            </a:r>
          </a:p>
        </p:txBody>
      </p:sp>
      <p:sp>
        <p:nvSpPr>
          <p:cNvPr id="3" name="Shape 1"/>
          <p:cNvSpPr/>
          <p:nvPr/>
        </p:nvSpPr>
        <p:spPr>
          <a:xfrm>
            <a:off x="-2011680" y="-2926080"/>
            <a:ext cx="7772400" cy="7772400"/>
          </a:xfrm>
          <a:prstGeom prst="ellipse">
            <a:avLst/>
          </a:prstGeom>
          <a:solidFill>
            <a:srgbClr val="3A2778">
              <a:alpha val="45000"/>
            </a:srgbClr>
          </a:solidFill>
          <a:ln/>
        </p:spPr>
      </p:sp>
      <p:sp>
        <p:nvSpPr>
          <p:cNvPr id="4" name="Shape 2"/>
          <p:cNvSpPr/>
          <p:nvPr/>
        </p:nvSpPr>
        <p:spPr>
          <a:xfrm>
            <a:off x="7863840" y="3291840"/>
            <a:ext cx="6949440" cy="6949440"/>
          </a:xfrm>
          <a:prstGeom prst="ellipse">
            <a:avLst/>
          </a:prstGeom>
          <a:solidFill>
            <a:srgbClr val="5A2350">
              <a:alpha val="50000"/>
            </a:srgbClr>
          </a:solidFill>
          <a:ln/>
        </p:spPr>
      </p:sp>
      <p:sp>
        <p:nvSpPr>
          <p:cNvPr id="5" name="Text 3"/>
          <p:cNvSpPr txBox="1"/>
          <p:nvPr/>
        </p:nvSpPr>
        <p:spPr>
          <a:xfrm>
            <a:off x="566928" y="384048"/>
            <a:ext cx="8229600" cy="274320"/>
          </a:xfrm>
          <a:prstGeom prst="rect">
            <a:avLst/>
          </a:prstGeom>
          <a:noFill/>
          <a:ln/>
        </p:spPr>
        <p:txBody>
          <a:bodyPr wrap="square" lIns="0" tIns="0" rIns="0" bIns="0" rtlCol="0" anchor="ctr"/>
          <a:lstStyle/>
          <a:p>
            <a:pPr marL="0" indent="0">
              <a:buNone/>
            </a:pPr>
            <a:r>
              <a:rPr lang="en-US" sz="1200" b="1" kern="0" spc="100" dirty="0">
                <a:solidFill>
                  <a:srgbClr val="F3A63B"/>
                </a:solidFill>
                <a:latin typeface="Calibri" pitchFamily="34" charset="0"/>
                <a:ea typeface="Calibri" pitchFamily="34" charset="-122"/>
                <a:cs typeface="Calibri" pitchFamily="34" charset="-120"/>
              </a:rPr>
              <a:t>CONTENTS</a:t>
            </a:r>
            <a:endParaRPr lang="en-US" sz="1200" dirty="0"/>
          </a:p>
        </p:txBody>
      </p:sp>
      <p:sp>
        <p:nvSpPr>
          <p:cNvPr id="6" name="Text 4"/>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Index</a:t>
            </a:r>
            <a:endParaRPr lang="en-US" sz="3600" dirty="0"/>
          </a:p>
        </p:txBody>
      </p:sp>
      <p:sp>
        <p:nvSpPr>
          <p:cNvPr id="7" name="Shape 5"/>
          <p:cNvSpPr/>
          <p:nvPr/>
        </p:nvSpPr>
        <p:spPr>
          <a:xfrm rot="2700000">
            <a:off x="685800" y="1938528"/>
            <a:ext cx="118872" cy="118872"/>
          </a:xfrm>
          <a:prstGeom prst="rect">
            <a:avLst/>
          </a:prstGeom>
          <a:solidFill>
            <a:srgbClr val="F3A63B"/>
          </a:solidFill>
          <a:ln w="12700">
            <a:solidFill>
              <a:srgbClr val="333333"/>
            </a:solidFill>
            <a:prstDash val="solid"/>
          </a:ln>
        </p:spPr>
      </p:sp>
      <p:sp>
        <p:nvSpPr>
          <p:cNvPr id="8" name="Text 6"/>
          <p:cNvSpPr txBox="1"/>
          <p:nvPr/>
        </p:nvSpPr>
        <p:spPr>
          <a:xfrm>
            <a:off x="1033272" y="182880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Introduction</a:t>
            </a:r>
            <a:endParaRPr lang="en-US" sz="1450" dirty="0"/>
          </a:p>
        </p:txBody>
      </p:sp>
      <p:sp>
        <p:nvSpPr>
          <p:cNvPr id="9" name="Shape 7"/>
          <p:cNvSpPr/>
          <p:nvPr/>
        </p:nvSpPr>
        <p:spPr>
          <a:xfrm rot="2700000">
            <a:off x="685800" y="2441448"/>
            <a:ext cx="118872" cy="118872"/>
          </a:xfrm>
          <a:prstGeom prst="rect">
            <a:avLst/>
          </a:prstGeom>
          <a:solidFill>
            <a:srgbClr val="F3A63B"/>
          </a:solidFill>
          <a:ln w="12700">
            <a:solidFill>
              <a:srgbClr val="333333"/>
            </a:solidFill>
            <a:prstDash val="solid"/>
          </a:ln>
        </p:spPr>
      </p:sp>
      <p:sp>
        <p:nvSpPr>
          <p:cNvPr id="10" name="Text 8"/>
          <p:cNvSpPr txBox="1"/>
          <p:nvPr/>
        </p:nvSpPr>
        <p:spPr>
          <a:xfrm>
            <a:off x="1033272" y="233172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About the data</a:t>
            </a:r>
            <a:endParaRPr lang="en-US" sz="1450" dirty="0"/>
          </a:p>
        </p:txBody>
      </p:sp>
      <p:sp>
        <p:nvSpPr>
          <p:cNvPr id="11" name="Shape 9"/>
          <p:cNvSpPr/>
          <p:nvPr/>
        </p:nvSpPr>
        <p:spPr>
          <a:xfrm rot="2700000">
            <a:off x="685800" y="2944368"/>
            <a:ext cx="118872" cy="118872"/>
          </a:xfrm>
          <a:prstGeom prst="rect">
            <a:avLst/>
          </a:prstGeom>
          <a:solidFill>
            <a:srgbClr val="F3A63B"/>
          </a:solidFill>
          <a:ln w="12700">
            <a:solidFill>
              <a:srgbClr val="333333"/>
            </a:solidFill>
            <a:prstDash val="solid"/>
          </a:ln>
        </p:spPr>
      </p:sp>
      <p:sp>
        <p:nvSpPr>
          <p:cNvPr id="12" name="Text 10"/>
          <p:cNvSpPr txBox="1"/>
          <p:nvPr/>
        </p:nvSpPr>
        <p:spPr>
          <a:xfrm>
            <a:off x="1033272" y="283464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Objective and questions</a:t>
            </a:r>
            <a:endParaRPr lang="en-US" sz="1450" dirty="0"/>
          </a:p>
        </p:txBody>
      </p:sp>
      <p:sp>
        <p:nvSpPr>
          <p:cNvPr id="13" name="Shape 11"/>
          <p:cNvSpPr/>
          <p:nvPr/>
        </p:nvSpPr>
        <p:spPr>
          <a:xfrm rot="2700000">
            <a:off x="685800" y="3447288"/>
            <a:ext cx="118872" cy="118872"/>
          </a:xfrm>
          <a:prstGeom prst="rect">
            <a:avLst/>
          </a:prstGeom>
          <a:solidFill>
            <a:srgbClr val="F3A63B"/>
          </a:solidFill>
          <a:ln w="12700">
            <a:solidFill>
              <a:srgbClr val="333333"/>
            </a:solidFill>
            <a:prstDash val="solid"/>
          </a:ln>
        </p:spPr>
      </p:sp>
      <p:sp>
        <p:nvSpPr>
          <p:cNvPr id="14" name="Text 12"/>
          <p:cNvSpPr txBox="1"/>
          <p:nvPr/>
        </p:nvSpPr>
        <p:spPr>
          <a:xfrm>
            <a:off x="1033272" y="333756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How I did it</a:t>
            </a:r>
            <a:endParaRPr lang="en-US" sz="1450" dirty="0"/>
          </a:p>
        </p:txBody>
      </p:sp>
      <p:sp>
        <p:nvSpPr>
          <p:cNvPr id="15" name="Shape 13"/>
          <p:cNvSpPr/>
          <p:nvPr/>
        </p:nvSpPr>
        <p:spPr>
          <a:xfrm rot="2700000">
            <a:off x="685800" y="3950208"/>
            <a:ext cx="118872" cy="118872"/>
          </a:xfrm>
          <a:prstGeom prst="rect">
            <a:avLst/>
          </a:prstGeom>
          <a:solidFill>
            <a:srgbClr val="F3A63B"/>
          </a:solidFill>
          <a:ln w="12700">
            <a:solidFill>
              <a:srgbClr val="333333"/>
            </a:solidFill>
            <a:prstDash val="solid"/>
          </a:ln>
        </p:spPr>
      </p:sp>
      <p:sp>
        <p:nvSpPr>
          <p:cNvPr id="16" name="Text 14"/>
          <p:cNvSpPr txBox="1"/>
          <p:nvPr/>
        </p:nvSpPr>
        <p:spPr>
          <a:xfrm>
            <a:off x="1033272" y="384048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Q1 · Sales by month</a:t>
            </a:r>
            <a:endParaRPr lang="en-US" sz="1450" dirty="0"/>
          </a:p>
        </p:txBody>
      </p:sp>
      <p:sp>
        <p:nvSpPr>
          <p:cNvPr id="17" name="Shape 15"/>
          <p:cNvSpPr/>
          <p:nvPr/>
        </p:nvSpPr>
        <p:spPr>
          <a:xfrm rot="2700000">
            <a:off x="685800" y="4453128"/>
            <a:ext cx="118872" cy="118872"/>
          </a:xfrm>
          <a:prstGeom prst="rect">
            <a:avLst/>
          </a:prstGeom>
          <a:solidFill>
            <a:srgbClr val="F3A63B"/>
          </a:solidFill>
          <a:ln w="12700">
            <a:solidFill>
              <a:srgbClr val="333333"/>
            </a:solidFill>
            <a:prstDash val="solid"/>
          </a:ln>
        </p:spPr>
      </p:sp>
      <p:sp>
        <p:nvSpPr>
          <p:cNvPr id="18" name="Text 16"/>
          <p:cNvSpPr txBox="1"/>
          <p:nvPr/>
        </p:nvSpPr>
        <p:spPr>
          <a:xfrm>
            <a:off x="1033272" y="434340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Q2 · What it means</a:t>
            </a:r>
            <a:endParaRPr lang="en-US" sz="1450" dirty="0"/>
          </a:p>
        </p:txBody>
      </p:sp>
      <p:sp>
        <p:nvSpPr>
          <p:cNvPr id="19" name="Shape 17"/>
          <p:cNvSpPr/>
          <p:nvPr/>
        </p:nvSpPr>
        <p:spPr>
          <a:xfrm rot="2700000">
            <a:off x="685800" y="4956048"/>
            <a:ext cx="118872" cy="118872"/>
          </a:xfrm>
          <a:prstGeom prst="rect">
            <a:avLst/>
          </a:prstGeom>
          <a:solidFill>
            <a:srgbClr val="F3A63B"/>
          </a:solidFill>
          <a:ln w="12700">
            <a:solidFill>
              <a:srgbClr val="333333"/>
            </a:solidFill>
            <a:prstDash val="solid"/>
          </a:ln>
        </p:spPr>
      </p:sp>
      <p:sp>
        <p:nvSpPr>
          <p:cNvPr id="20" name="Text 18"/>
          <p:cNvSpPr txBox="1"/>
          <p:nvPr/>
        </p:nvSpPr>
        <p:spPr>
          <a:xfrm>
            <a:off x="1033272" y="484632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Q3 · Men vs women</a:t>
            </a:r>
            <a:endParaRPr lang="en-US" sz="1450" dirty="0"/>
          </a:p>
        </p:txBody>
      </p:sp>
      <p:sp>
        <p:nvSpPr>
          <p:cNvPr id="21" name="Shape 19"/>
          <p:cNvSpPr/>
          <p:nvPr/>
        </p:nvSpPr>
        <p:spPr>
          <a:xfrm rot="2700000">
            <a:off x="685800" y="5458968"/>
            <a:ext cx="118872" cy="118872"/>
          </a:xfrm>
          <a:prstGeom prst="rect">
            <a:avLst/>
          </a:prstGeom>
          <a:solidFill>
            <a:srgbClr val="F3A63B"/>
          </a:solidFill>
          <a:ln w="12700">
            <a:solidFill>
              <a:srgbClr val="333333"/>
            </a:solidFill>
            <a:prstDash val="solid"/>
          </a:ln>
        </p:spPr>
      </p:sp>
      <p:sp>
        <p:nvSpPr>
          <p:cNvPr id="22" name="Text 20"/>
          <p:cNvSpPr txBox="1"/>
          <p:nvPr/>
        </p:nvSpPr>
        <p:spPr>
          <a:xfrm>
            <a:off x="1033272" y="534924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Q4 · Order status</a:t>
            </a:r>
            <a:endParaRPr lang="en-US" sz="1450" dirty="0"/>
          </a:p>
        </p:txBody>
      </p:sp>
      <p:sp>
        <p:nvSpPr>
          <p:cNvPr id="23" name="Shape 21"/>
          <p:cNvSpPr/>
          <p:nvPr/>
        </p:nvSpPr>
        <p:spPr>
          <a:xfrm rot="2700000">
            <a:off x="6355080" y="1938528"/>
            <a:ext cx="118872" cy="118872"/>
          </a:xfrm>
          <a:prstGeom prst="rect">
            <a:avLst/>
          </a:prstGeom>
          <a:solidFill>
            <a:srgbClr val="F3A63B"/>
          </a:solidFill>
          <a:ln w="12700">
            <a:solidFill>
              <a:srgbClr val="333333"/>
            </a:solidFill>
            <a:prstDash val="solid"/>
          </a:ln>
        </p:spPr>
      </p:sp>
      <p:sp>
        <p:nvSpPr>
          <p:cNvPr id="24" name="Text 22"/>
          <p:cNvSpPr txBox="1"/>
          <p:nvPr/>
        </p:nvSpPr>
        <p:spPr>
          <a:xfrm>
            <a:off x="6702552" y="182880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Q5 · Top 5 states</a:t>
            </a:r>
            <a:endParaRPr lang="en-US" sz="1450" dirty="0"/>
          </a:p>
        </p:txBody>
      </p:sp>
      <p:sp>
        <p:nvSpPr>
          <p:cNvPr id="25" name="Shape 23"/>
          <p:cNvSpPr/>
          <p:nvPr/>
        </p:nvSpPr>
        <p:spPr>
          <a:xfrm rot="2700000">
            <a:off x="6355080" y="2441448"/>
            <a:ext cx="118872" cy="118872"/>
          </a:xfrm>
          <a:prstGeom prst="rect">
            <a:avLst/>
          </a:prstGeom>
          <a:solidFill>
            <a:srgbClr val="F3A63B"/>
          </a:solidFill>
          <a:ln w="12700">
            <a:solidFill>
              <a:srgbClr val="333333"/>
            </a:solidFill>
            <a:prstDash val="solid"/>
          </a:ln>
        </p:spPr>
      </p:sp>
      <p:sp>
        <p:nvSpPr>
          <p:cNvPr id="26" name="Text 24"/>
          <p:cNvSpPr txBox="1"/>
          <p:nvPr/>
        </p:nvSpPr>
        <p:spPr>
          <a:xfrm>
            <a:off x="6702552" y="233172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Q6 · Age and gender</a:t>
            </a:r>
            <a:endParaRPr lang="en-US" sz="1450" dirty="0"/>
          </a:p>
        </p:txBody>
      </p:sp>
      <p:sp>
        <p:nvSpPr>
          <p:cNvPr id="27" name="Shape 25"/>
          <p:cNvSpPr/>
          <p:nvPr/>
        </p:nvSpPr>
        <p:spPr>
          <a:xfrm rot="2700000">
            <a:off x="6355080" y="2944368"/>
            <a:ext cx="118872" cy="118872"/>
          </a:xfrm>
          <a:prstGeom prst="rect">
            <a:avLst/>
          </a:prstGeom>
          <a:solidFill>
            <a:srgbClr val="F3A63B"/>
          </a:solidFill>
          <a:ln w="12700">
            <a:solidFill>
              <a:srgbClr val="333333"/>
            </a:solidFill>
            <a:prstDash val="solid"/>
          </a:ln>
        </p:spPr>
      </p:sp>
      <p:sp>
        <p:nvSpPr>
          <p:cNvPr id="28" name="Text 26"/>
          <p:cNvSpPr txBox="1"/>
          <p:nvPr/>
        </p:nvSpPr>
        <p:spPr>
          <a:xfrm>
            <a:off x="6702552" y="283464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Q7 · Sales channels</a:t>
            </a:r>
            <a:endParaRPr lang="en-US" sz="1450" dirty="0"/>
          </a:p>
        </p:txBody>
      </p:sp>
      <p:sp>
        <p:nvSpPr>
          <p:cNvPr id="29" name="Shape 27"/>
          <p:cNvSpPr/>
          <p:nvPr/>
        </p:nvSpPr>
        <p:spPr>
          <a:xfrm rot="2700000">
            <a:off x="6355080" y="3447288"/>
            <a:ext cx="118872" cy="118872"/>
          </a:xfrm>
          <a:prstGeom prst="rect">
            <a:avLst/>
          </a:prstGeom>
          <a:solidFill>
            <a:srgbClr val="F3A63B"/>
          </a:solidFill>
          <a:ln w="12700">
            <a:solidFill>
              <a:srgbClr val="333333"/>
            </a:solidFill>
            <a:prstDash val="solid"/>
          </a:ln>
        </p:spPr>
      </p:sp>
      <p:sp>
        <p:nvSpPr>
          <p:cNvPr id="30" name="Text 28"/>
          <p:cNvSpPr txBox="1"/>
          <p:nvPr/>
        </p:nvSpPr>
        <p:spPr>
          <a:xfrm>
            <a:off x="6702552" y="333756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What people buy</a:t>
            </a:r>
            <a:endParaRPr lang="en-US" sz="1450" dirty="0"/>
          </a:p>
        </p:txBody>
      </p:sp>
      <p:sp>
        <p:nvSpPr>
          <p:cNvPr id="31" name="Shape 29"/>
          <p:cNvSpPr/>
          <p:nvPr/>
        </p:nvSpPr>
        <p:spPr>
          <a:xfrm rot="2700000">
            <a:off x="6355080" y="3950208"/>
            <a:ext cx="118872" cy="118872"/>
          </a:xfrm>
          <a:prstGeom prst="rect">
            <a:avLst/>
          </a:prstGeom>
          <a:solidFill>
            <a:srgbClr val="F3A63B"/>
          </a:solidFill>
          <a:ln w="12700">
            <a:solidFill>
              <a:srgbClr val="333333"/>
            </a:solidFill>
            <a:prstDash val="solid"/>
          </a:ln>
        </p:spPr>
      </p:sp>
      <p:sp>
        <p:nvSpPr>
          <p:cNvPr id="32" name="Text 30"/>
          <p:cNvSpPr txBox="1"/>
          <p:nvPr/>
        </p:nvSpPr>
        <p:spPr>
          <a:xfrm>
            <a:off x="6702552" y="384048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Key findings</a:t>
            </a:r>
            <a:endParaRPr lang="en-US" sz="1450" dirty="0"/>
          </a:p>
        </p:txBody>
      </p:sp>
      <p:sp>
        <p:nvSpPr>
          <p:cNvPr id="33" name="Shape 31"/>
          <p:cNvSpPr/>
          <p:nvPr/>
        </p:nvSpPr>
        <p:spPr>
          <a:xfrm rot="2700000">
            <a:off x="6355080" y="4453128"/>
            <a:ext cx="118872" cy="118872"/>
          </a:xfrm>
          <a:prstGeom prst="rect">
            <a:avLst/>
          </a:prstGeom>
          <a:solidFill>
            <a:srgbClr val="F3A63B"/>
          </a:solidFill>
          <a:ln w="12700">
            <a:solidFill>
              <a:srgbClr val="333333"/>
            </a:solidFill>
            <a:prstDash val="solid"/>
          </a:ln>
        </p:spPr>
      </p:sp>
      <p:sp>
        <p:nvSpPr>
          <p:cNvPr id="34" name="Text 32"/>
          <p:cNvSpPr txBox="1"/>
          <p:nvPr/>
        </p:nvSpPr>
        <p:spPr>
          <a:xfrm>
            <a:off x="6702552" y="434340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Recommendations for 2027</a:t>
            </a:r>
            <a:endParaRPr lang="en-US" sz="1450" dirty="0"/>
          </a:p>
        </p:txBody>
      </p:sp>
      <p:sp>
        <p:nvSpPr>
          <p:cNvPr id="35" name="Shape 33"/>
          <p:cNvSpPr/>
          <p:nvPr/>
        </p:nvSpPr>
        <p:spPr>
          <a:xfrm rot="2700000">
            <a:off x="6355080" y="4956048"/>
            <a:ext cx="118872" cy="118872"/>
          </a:xfrm>
          <a:prstGeom prst="rect">
            <a:avLst/>
          </a:prstGeom>
          <a:solidFill>
            <a:srgbClr val="F3A63B"/>
          </a:solidFill>
          <a:ln w="12700">
            <a:solidFill>
              <a:srgbClr val="333333"/>
            </a:solidFill>
            <a:prstDash val="solid"/>
          </a:ln>
        </p:spPr>
      </p:sp>
      <p:sp>
        <p:nvSpPr>
          <p:cNvPr id="36" name="Text 34"/>
          <p:cNvSpPr txBox="1"/>
          <p:nvPr/>
        </p:nvSpPr>
        <p:spPr>
          <a:xfrm>
            <a:off x="6702552" y="484632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Limitations and learning</a:t>
            </a:r>
            <a:endParaRPr lang="en-US" sz="1450" dirty="0"/>
          </a:p>
        </p:txBody>
      </p:sp>
      <p:sp>
        <p:nvSpPr>
          <p:cNvPr id="37" name="Shape 35"/>
          <p:cNvSpPr/>
          <p:nvPr/>
        </p:nvSpPr>
        <p:spPr>
          <a:xfrm rot="2700000">
            <a:off x="6355080" y="5458968"/>
            <a:ext cx="118872" cy="118872"/>
          </a:xfrm>
          <a:prstGeom prst="rect">
            <a:avLst/>
          </a:prstGeom>
          <a:solidFill>
            <a:srgbClr val="F3A63B"/>
          </a:solidFill>
          <a:ln w="12700">
            <a:solidFill>
              <a:srgbClr val="333333"/>
            </a:solidFill>
            <a:prstDash val="solid"/>
          </a:ln>
        </p:spPr>
      </p:sp>
      <p:sp>
        <p:nvSpPr>
          <p:cNvPr id="38" name="Text 36"/>
          <p:cNvSpPr txBox="1"/>
          <p:nvPr/>
        </p:nvSpPr>
        <p:spPr>
          <a:xfrm>
            <a:off x="6702552" y="5349240"/>
            <a:ext cx="5120640" cy="365760"/>
          </a:xfrm>
          <a:prstGeom prst="rect">
            <a:avLst/>
          </a:prstGeom>
          <a:noFill/>
          <a:ln/>
        </p:spPr>
        <p:txBody>
          <a:bodyPr wrap="square" lIns="0" tIns="0" rIns="0" bIns="0" rtlCol="0" anchor="ctr"/>
          <a:lstStyle/>
          <a:p>
            <a:pPr marL="0" indent="0">
              <a:buNone/>
            </a:pPr>
            <a:r>
              <a:rPr lang="en-US" sz="1450" dirty="0">
                <a:solidFill>
                  <a:srgbClr val="E6E0F5"/>
                </a:solidFill>
                <a:latin typeface="Calibri" pitchFamily="34" charset="0"/>
                <a:ea typeface="Calibri" pitchFamily="34" charset="-122"/>
                <a:cs typeface="Calibri" pitchFamily="34" charset="-120"/>
              </a:rPr>
              <a:t> Conclusion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Introduction</a:t>
            </a:r>
            <a:endParaRPr lang="en-US" sz="3600" dirty="0"/>
          </a:p>
        </p:txBody>
      </p:sp>
      <p:sp>
        <p:nvSpPr>
          <p:cNvPr id="4" name="Text 2"/>
          <p:cNvSpPr txBox="1"/>
          <p:nvPr/>
        </p:nvSpPr>
        <p:spPr>
          <a:xfrm>
            <a:off x="621792" y="1828800"/>
            <a:ext cx="7315200" cy="914400"/>
          </a:xfrm>
          <a:prstGeom prst="rect">
            <a:avLst/>
          </a:prstGeom>
          <a:noFill/>
          <a:ln/>
        </p:spPr>
        <p:txBody>
          <a:bodyPr wrap="square" lIns="0" tIns="0" rIns="0" bIns="0" rtlCol="0" anchor="t"/>
          <a:lstStyle/>
          <a:p>
            <a:pPr marL="0" indent="0">
              <a:lnSpc>
                <a:spcPts val="2300"/>
              </a:lnSpc>
              <a:buNone/>
            </a:pPr>
            <a:r>
              <a:rPr lang="en-US" sz="1500" dirty="0">
                <a:solidFill>
                  <a:srgbClr val="4B4468"/>
                </a:solidFill>
                <a:latin typeface="Calibri" pitchFamily="34" charset="0"/>
                <a:ea typeface="Calibri" pitchFamily="34" charset="-122"/>
                <a:cs typeface="Calibri" pitchFamily="34" charset="-120"/>
              </a:rPr>
              <a:t>Khushi Store is an online clothing store in India. It sells ethnic and western wear for men and women through websites like Amazon, Myntra and Flipkart.</a:t>
            </a:r>
            <a:endParaRPr lang="en-US" sz="1500" dirty="0"/>
          </a:p>
        </p:txBody>
      </p:sp>
      <p:sp>
        <p:nvSpPr>
          <p:cNvPr id="5" name="Text 3"/>
          <p:cNvSpPr txBox="1"/>
          <p:nvPr/>
        </p:nvSpPr>
        <p:spPr>
          <a:xfrm>
            <a:off x="621792" y="2852928"/>
            <a:ext cx="7315200" cy="914400"/>
          </a:xfrm>
          <a:prstGeom prst="rect">
            <a:avLst/>
          </a:prstGeom>
          <a:noFill/>
          <a:ln/>
        </p:spPr>
        <p:txBody>
          <a:bodyPr wrap="square" lIns="0" tIns="0" rIns="0" bIns="0" rtlCol="0" anchor="t"/>
          <a:lstStyle/>
          <a:p>
            <a:pPr marL="0" indent="0">
              <a:lnSpc>
                <a:spcPts val="2300"/>
              </a:lnSpc>
              <a:buNone/>
            </a:pPr>
            <a:r>
              <a:rPr lang="en-US" sz="1500" dirty="0">
                <a:solidFill>
                  <a:srgbClr val="4B4468"/>
                </a:solidFill>
                <a:latin typeface="Calibri" pitchFamily="34" charset="0"/>
                <a:ea typeface="Calibri" pitchFamily="34" charset="-122"/>
                <a:cs typeface="Calibri" pitchFamily="34" charset="-120"/>
              </a:rPr>
              <a:t>Every order the store receives is saved as one row of data — who bought it, what they bought, where it was sent, and how much it cost. Over the year 2026 this became a very large file of 31,047 orders.</a:t>
            </a:r>
            <a:endParaRPr lang="en-US" sz="1500" dirty="0"/>
          </a:p>
        </p:txBody>
      </p:sp>
      <p:sp>
        <p:nvSpPr>
          <p:cNvPr id="6" name="Text 4"/>
          <p:cNvSpPr txBox="1"/>
          <p:nvPr/>
        </p:nvSpPr>
        <p:spPr>
          <a:xfrm>
            <a:off x="621792" y="3877056"/>
            <a:ext cx="7315200" cy="914400"/>
          </a:xfrm>
          <a:prstGeom prst="rect">
            <a:avLst/>
          </a:prstGeom>
          <a:noFill/>
          <a:ln/>
        </p:spPr>
        <p:txBody>
          <a:bodyPr wrap="square" lIns="0" tIns="0" rIns="0" bIns="0" rtlCol="0" anchor="t"/>
          <a:lstStyle/>
          <a:p>
            <a:pPr marL="0" indent="0">
              <a:lnSpc>
                <a:spcPts val="2300"/>
              </a:lnSpc>
              <a:buNone/>
            </a:pPr>
            <a:r>
              <a:rPr lang="en-US" sz="1500" dirty="0">
                <a:solidFill>
                  <a:srgbClr val="4B4468"/>
                </a:solidFill>
                <a:latin typeface="Calibri" pitchFamily="34" charset="0"/>
                <a:ea typeface="Calibri" pitchFamily="34" charset="-122"/>
                <a:cs typeface="Calibri" pitchFamily="34" charset="-120"/>
              </a:rPr>
              <a:t>A file this big cannot be read by eye. So in this project I used Microsoft Excel to clean the data, group it, and turn it into simple charts that answer real business questions.</a:t>
            </a:r>
            <a:endParaRPr lang="en-US" sz="1500" dirty="0"/>
          </a:p>
        </p:txBody>
      </p:sp>
      <p:sp>
        <p:nvSpPr>
          <p:cNvPr id="7" name="Shape 5"/>
          <p:cNvSpPr/>
          <p:nvPr/>
        </p:nvSpPr>
        <p:spPr>
          <a:xfrm>
            <a:off x="8321040" y="1828800"/>
            <a:ext cx="3291840" cy="3063240"/>
          </a:xfrm>
          <a:prstGeom prst="roundRect">
            <a:avLst>
              <a:gd name="adj" fmla="val 1493"/>
            </a:avLst>
          </a:prstGeom>
          <a:solidFill>
            <a:srgbClr val="FFFFFF"/>
          </a:solidFill>
          <a:ln w="12700">
            <a:solidFill>
              <a:srgbClr val="D9D0E2"/>
            </a:solidFill>
            <a:prstDash val="solid"/>
          </a:ln>
        </p:spPr>
      </p:sp>
      <p:sp>
        <p:nvSpPr>
          <p:cNvPr id="8" name="Text 6"/>
          <p:cNvSpPr txBox="1"/>
          <p:nvPr/>
        </p:nvSpPr>
        <p:spPr>
          <a:xfrm>
            <a:off x="8503920" y="1975104"/>
            <a:ext cx="29260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Why this matters</a:t>
            </a:r>
            <a:endParaRPr lang="en-US" sz="1450" dirty="0"/>
          </a:p>
        </p:txBody>
      </p:sp>
      <p:sp>
        <p:nvSpPr>
          <p:cNvPr id="9" name="Text 7"/>
          <p:cNvSpPr txBox="1"/>
          <p:nvPr/>
        </p:nvSpPr>
        <p:spPr>
          <a:xfrm>
            <a:off x="8503920" y="2322576"/>
            <a:ext cx="2926080" cy="2423160"/>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Data by itself is only numbers. Turning it into charts is what lets the store owner take a decision — what to stock, where to advertise, and which website to focus on.</a:t>
            </a:r>
            <a:endParaRPr lang="en-US" sz="1200" dirty="0"/>
          </a:p>
        </p:txBody>
      </p:sp>
      <p:sp>
        <p:nvSpPr>
          <p:cNvPr id="10" name="Shape 8"/>
          <p:cNvSpPr/>
          <p:nvPr/>
        </p:nvSpPr>
        <p:spPr>
          <a:xfrm>
            <a:off x="566928" y="5230368"/>
            <a:ext cx="11064240" cy="621792"/>
          </a:xfrm>
          <a:prstGeom prst="roundRect">
            <a:avLst>
              <a:gd name="adj" fmla="val 5882"/>
            </a:avLst>
          </a:prstGeom>
          <a:solidFill>
            <a:srgbClr val="FBEBD4"/>
          </a:solidFill>
          <a:ln w="12700">
            <a:solidFill>
              <a:srgbClr val="F3A63B"/>
            </a:solidFill>
            <a:prstDash val="solid"/>
          </a:ln>
        </p:spPr>
      </p:sp>
      <p:sp>
        <p:nvSpPr>
          <p:cNvPr id="11" name="Shape 9"/>
          <p:cNvSpPr/>
          <p:nvPr/>
        </p:nvSpPr>
        <p:spPr>
          <a:xfrm>
            <a:off x="566928" y="5230368"/>
            <a:ext cx="64008" cy="621792"/>
          </a:xfrm>
          <a:prstGeom prst="rect">
            <a:avLst/>
          </a:prstGeom>
          <a:solidFill>
            <a:srgbClr val="F3A63B"/>
          </a:solidFill>
          <a:ln w="12700">
            <a:solidFill>
              <a:srgbClr val="333333"/>
            </a:solidFill>
            <a:prstDash val="solid"/>
          </a:ln>
        </p:spPr>
      </p:sp>
      <p:sp>
        <p:nvSpPr>
          <p:cNvPr id="12" name="Text 10"/>
          <p:cNvSpPr txBox="1"/>
          <p:nvPr/>
        </p:nvSpPr>
        <p:spPr>
          <a:xfrm>
            <a:off x="777240" y="5230368"/>
            <a:ext cx="10698480" cy="621792"/>
          </a:xfrm>
          <a:prstGeom prst="rect">
            <a:avLst/>
          </a:prstGeom>
          <a:noFill/>
          <a:ln/>
        </p:spPr>
        <p:txBody>
          <a:bodyPr wrap="square" lIns="0" tIns="0" rIns="0" bIns="0" rtlCol="0" anchor="ctr"/>
          <a:lstStyle/>
          <a:p>
            <a:pPr marL="0" indent="0">
              <a:buNone/>
            </a:pPr>
            <a:r>
              <a:rPr lang="en-US" sz="1350" dirty="0">
                <a:solidFill>
                  <a:srgbClr val="1B1140"/>
                </a:solidFill>
                <a:latin typeface="Calibri" pitchFamily="34" charset="0"/>
                <a:ea typeface="Calibri" pitchFamily="34" charset="-122"/>
                <a:cs typeface="Calibri" pitchFamily="34" charset="-120"/>
              </a:rPr>
              <a:t>In one line:  this project turns 31,047 rows of raw sales data into seven clear answers the store can act on.</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About the data</a:t>
            </a:r>
            <a:endParaRPr lang="en-US" sz="3600" dirty="0"/>
          </a:p>
        </p:txBody>
      </p:sp>
      <p:sp>
        <p:nvSpPr>
          <p:cNvPr id="4" name="Shape 2"/>
          <p:cNvSpPr/>
          <p:nvPr/>
        </p:nvSpPr>
        <p:spPr>
          <a:xfrm>
            <a:off x="594360" y="1755648"/>
            <a:ext cx="2615184" cy="1188720"/>
          </a:xfrm>
          <a:prstGeom prst="roundRect">
            <a:avLst>
              <a:gd name="adj" fmla="val 4615"/>
            </a:avLst>
          </a:prstGeom>
          <a:solidFill>
            <a:srgbClr val="FFFFFF"/>
          </a:solidFill>
          <a:ln w="12700">
            <a:solidFill>
              <a:srgbClr val="D9D0E2"/>
            </a:solidFill>
            <a:prstDash val="solid"/>
          </a:ln>
        </p:spPr>
      </p:sp>
      <p:sp>
        <p:nvSpPr>
          <p:cNvPr id="5" name="Shape 3"/>
          <p:cNvSpPr/>
          <p:nvPr/>
        </p:nvSpPr>
        <p:spPr>
          <a:xfrm>
            <a:off x="594360" y="1755648"/>
            <a:ext cx="2615184" cy="64008"/>
          </a:xfrm>
          <a:prstGeom prst="rect">
            <a:avLst/>
          </a:prstGeom>
          <a:solidFill>
            <a:srgbClr val="F3A63B"/>
          </a:solidFill>
          <a:ln w="12700">
            <a:solidFill>
              <a:srgbClr val="F3A63B"/>
            </a:solidFill>
            <a:prstDash val="solid"/>
          </a:ln>
        </p:spPr>
      </p:sp>
      <p:sp>
        <p:nvSpPr>
          <p:cNvPr id="6" name="Text 4"/>
          <p:cNvSpPr txBox="1"/>
          <p:nvPr/>
        </p:nvSpPr>
        <p:spPr>
          <a:xfrm>
            <a:off x="740664" y="1938528"/>
            <a:ext cx="2322576" cy="566928"/>
          </a:xfrm>
          <a:prstGeom prst="rect">
            <a:avLst/>
          </a:prstGeom>
          <a:noFill/>
          <a:ln/>
        </p:spPr>
        <p:txBody>
          <a:bodyPr wrap="square" lIns="0" tIns="0" rIns="0" bIns="0" rtlCol="0" anchor="ctr"/>
          <a:lstStyle/>
          <a:p>
            <a:pPr marL="0" indent="0">
              <a:buNone/>
            </a:pPr>
            <a:r>
              <a:rPr lang="en-US" sz="2400" b="1" dirty="0">
                <a:solidFill>
                  <a:srgbClr val="1B1140"/>
                </a:solidFill>
                <a:latin typeface="Cambria" pitchFamily="34" charset="0"/>
                <a:ea typeface="Cambria" pitchFamily="34" charset="-122"/>
                <a:cs typeface="Cambria" pitchFamily="34" charset="-120"/>
              </a:rPr>
              <a:t>31,047</a:t>
            </a:r>
            <a:endParaRPr lang="en-US" sz="2400" dirty="0"/>
          </a:p>
        </p:txBody>
      </p:sp>
      <p:sp>
        <p:nvSpPr>
          <p:cNvPr id="7" name="Text 5"/>
          <p:cNvSpPr txBox="1"/>
          <p:nvPr/>
        </p:nvSpPr>
        <p:spPr>
          <a:xfrm>
            <a:off x="740664" y="2523744"/>
            <a:ext cx="2322576" cy="292608"/>
          </a:xfrm>
          <a:prstGeom prst="rect">
            <a:avLst/>
          </a:prstGeom>
          <a:noFill/>
          <a:ln/>
        </p:spPr>
        <p:txBody>
          <a:bodyPr wrap="square" lIns="0" tIns="0" rIns="0" bIns="0" rtlCol="0" anchor="t"/>
          <a:lstStyle/>
          <a:p>
            <a:pPr marL="0" indent="0">
              <a:buNone/>
            </a:pPr>
            <a:r>
              <a:rPr lang="en-US" sz="1150" dirty="0">
                <a:solidFill>
                  <a:srgbClr val="4B4468"/>
                </a:solidFill>
                <a:latin typeface="Calibri" pitchFamily="34" charset="0"/>
                <a:ea typeface="Calibri" pitchFamily="34" charset="-122"/>
                <a:cs typeface="Calibri" pitchFamily="34" charset="-120"/>
              </a:rPr>
              <a:t>Orders in the year</a:t>
            </a:r>
            <a:endParaRPr lang="en-US" sz="1150" dirty="0"/>
          </a:p>
        </p:txBody>
      </p:sp>
      <p:sp>
        <p:nvSpPr>
          <p:cNvPr id="8" name="Shape 6"/>
          <p:cNvSpPr/>
          <p:nvPr/>
        </p:nvSpPr>
        <p:spPr>
          <a:xfrm>
            <a:off x="3392424" y="1755648"/>
            <a:ext cx="2615184" cy="1188720"/>
          </a:xfrm>
          <a:prstGeom prst="roundRect">
            <a:avLst>
              <a:gd name="adj" fmla="val 4615"/>
            </a:avLst>
          </a:prstGeom>
          <a:solidFill>
            <a:srgbClr val="FFFFFF"/>
          </a:solidFill>
          <a:ln w="12700">
            <a:solidFill>
              <a:srgbClr val="D9D0E2"/>
            </a:solidFill>
            <a:prstDash val="solid"/>
          </a:ln>
        </p:spPr>
      </p:sp>
      <p:sp>
        <p:nvSpPr>
          <p:cNvPr id="9" name="Shape 7"/>
          <p:cNvSpPr/>
          <p:nvPr/>
        </p:nvSpPr>
        <p:spPr>
          <a:xfrm>
            <a:off x="3392424" y="1755648"/>
            <a:ext cx="2615184" cy="64008"/>
          </a:xfrm>
          <a:prstGeom prst="rect">
            <a:avLst/>
          </a:prstGeom>
          <a:solidFill>
            <a:srgbClr val="E0567A"/>
          </a:solidFill>
          <a:ln w="12700">
            <a:solidFill>
              <a:srgbClr val="E0567A"/>
            </a:solidFill>
            <a:prstDash val="solid"/>
          </a:ln>
        </p:spPr>
      </p:sp>
      <p:sp>
        <p:nvSpPr>
          <p:cNvPr id="10" name="Text 8"/>
          <p:cNvSpPr txBox="1"/>
          <p:nvPr/>
        </p:nvSpPr>
        <p:spPr>
          <a:xfrm>
            <a:off x="3538728" y="1938528"/>
            <a:ext cx="2322576" cy="566928"/>
          </a:xfrm>
          <a:prstGeom prst="rect">
            <a:avLst/>
          </a:prstGeom>
          <a:noFill/>
          <a:ln/>
        </p:spPr>
        <p:txBody>
          <a:bodyPr wrap="square" lIns="0" tIns="0" rIns="0" bIns="0" rtlCol="0" anchor="ctr"/>
          <a:lstStyle/>
          <a:p>
            <a:pPr marL="0" indent="0">
              <a:buNone/>
            </a:pPr>
            <a:r>
              <a:rPr lang="en-US" sz="2400" b="1" dirty="0">
                <a:solidFill>
                  <a:srgbClr val="1B1140"/>
                </a:solidFill>
                <a:latin typeface="Cambria" pitchFamily="34" charset="0"/>
                <a:ea typeface="Cambria" pitchFamily="34" charset="-122"/>
                <a:cs typeface="Cambria" pitchFamily="34" charset="-120"/>
              </a:rPr>
              <a:t>Rs 2,11,76,377</a:t>
            </a:r>
            <a:endParaRPr lang="en-US" sz="2400" dirty="0"/>
          </a:p>
        </p:txBody>
      </p:sp>
      <p:sp>
        <p:nvSpPr>
          <p:cNvPr id="11" name="Text 9"/>
          <p:cNvSpPr txBox="1"/>
          <p:nvPr/>
        </p:nvSpPr>
        <p:spPr>
          <a:xfrm>
            <a:off x="3538728" y="2523744"/>
            <a:ext cx="2322576" cy="292608"/>
          </a:xfrm>
          <a:prstGeom prst="rect">
            <a:avLst/>
          </a:prstGeom>
          <a:noFill/>
          <a:ln/>
        </p:spPr>
        <p:txBody>
          <a:bodyPr wrap="square" lIns="0" tIns="0" rIns="0" bIns="0" rtlCol="0" anchor="t"/>
          <a:lstStyle/>
          <a:p>
            <a:pPr marL="0" indent="0">
              <a:buNone/>
            </a:pPr>
            <a:r>
              <a:rPr lang="en-US" sz="1150" dirty="0">
                <a:solidFill>
                  <a:srgbClr val="4B4468"/>
                </a:solidFill>
                <a:latin typeface="Calibri" pitchFamily="34" charset="0"/>
                <a:ea typeface="Calibri" pitchFamily="34" charset="-122"/>
                <a:cs typeface="Calibri" pitchFamily="34" charset="-120"/>
              </a:rPr>
              <a:t>Total sales value</a:t>
            </a:r>
            <a:endParaRPr lang="en-US" sz="1150" dirty="0"/>
          </a:p>
        </p:txBody>
      </p:sp>
      <p:sp>
        <p:nvSpPr>
          <p:cNvPr id="12" name="Shape 10"/>
          <p:cNvSpPr/>
          <p:nvPr/>
        </p:nvSpPr>
        <p:spPr>
          <a:xfrm>
            <a:off x="6190488" y="1755648"/>
            <a:ext cx="2615184" cy="1188720"/>
          </a:xfrm>
          <a:prstGeom prst="roundRect">
            <a:avLst>
              <a:gd name="adj" fmla="val 4615"/>
            </a:avLst>
          </a:prstGeom>
          <a:solidFill>
            <a:srgbClr val="FFFFFF"/>
          </a:solidFill>
          <a:ln w="12700">
            <a:solidFill>
              <a:srgbClr val="D9D0E2"/>
            </a:solidFill>
            <a:prstDash val="solid"/>
          </a:ln>
        </p:spPr>
      </p:sp>
      <p:sp>
        <p:nvSpPr>
          <p:cNvPr id="13" name="Shape 11"/>
          <p:cNvSpPr/>
          <p:nvPr/>
        </p:nvSpPr>
        <p:spPr>
          <a:xfrm>
            <a:off x="6190488" y="1755648"/>
            <a:ext cx="2615184" cy="64008"/>
          </a:xfrm>
          <a:prstGeom prst="rect">
            <a:avLst/>
          </a:prstGeom>
          <a:solidFill>
            <a:srgbClr val="128C8A"/>
          </a:solidFill>
          <a:ln w="12700">
            <a:solidFill>
              <a:srgbClr val="128C8A"/>
            </a:solidFill>
            <a:prstDash val="solid"/>
          </a:ln>
        </p:spPr>
      </p:sp>
      <p:sp>
        <p:nvSpPr>
          <p:cNvPr id="14" name="Text 12"/>
          <p:cNvSpPr txBox="1"/>
          <p:nvPr/>
        </p:nvSpPr>
        <p:spPr>
          <a:xfrm>
            <a:off x="6336792" y="1938528"/>
            <a:ext cx="2322576" cy="566928"/>
          </a:xfrm>
          <a:prstGeom prst="rect">
            <a:avLst/>
          </a:prstGeom>
          <a:noFill/>
          <a:ln/>
        </p:spPr>
        <p:txBody>
          <a:bodyPr wrap="square" lIns="0" tIns="0" rIns="0" bIns="0" rtlCol="0" anchor="ctr"/>
          <a:lstStyle/>
          <a:p>
            <a:pPr marL="0" indent="0">
              <a:buNone/>
            </a:pPr>
            <a:r>
              <a:rPr lang="en-US" sz="2400" b="1" dirty="0">
                <a:solidFill>
                  <a:srgbClr val="1B1140"/>
                </a:solidFill>
                <a:latin typeface="Cambria" pitchFamily="34" charset="0"/>
                <a:ea typeface="Cambria" pitchFamily="34" charset="-122"/>
                <a:cs typeface="Cambria" pitchFamily="34" charset="-120"/>
              </a:rPr>
              <a:t>28,437</a:t>
            </a:r>
            <a:endParaRPr lang="en-US" sz="2400" dirty="0"/>
          </a:p>
        </p:txBody>
      </p:sp>
      <p:sp>
        <p:nvSpPr>
          <p:cNvPr id="15" name="Text 13"/>
          <p:cNvSpPr txBox="1"/>
          <p:nvPr/>
        </p:nvSpPr>
        <p:spPr>
          <a:xfrm>
            <a:off x="6336792" y="2523744"/>
            <a:ext cx="2322576" cy="292608"/>
          </a:xfrm>
          <a:prstGeom prst="rect">
            <a:avLst/>
          </a:prstGeom>
          <a:noFill/>
          <a:ln/>
        </p:spPr>
        <p:txBody>
          <a:bodyPr wrap="square" lIns="0" tIns="0" rIns="0" bIns="0" rtlCol="0" anchor="t"/>
          <a:lstStyle/>
          <a:p>
            <a:pPr marL="0" indent="0">
              <a:buNone/>
            </a:pPr>
            <a:r>
              <a:rPr lang="en-US" sz="1150" dirty="0">
                <a:solidFill>
                  <a:srgbClr val="4B4468"/>
                </a:solidFill>
                <a:latin typeface="Calibri" pitchFamily="34" charset="0"/>
                <a:ea typeface="Calibri" pitchFamily="34" charset="-122"/>
                <a:cs typeface="Calibri" pitchFamily="34" charset="-120"/>
              </a:rPr>
              <a:t>Different customers</a:t>
            </a:r>
            <a:endParaRPr lang="en-US" sz="1150" dirty="0"/>
          </a:p>
        </p:txBody>
      </p:sp>
      <p:sp>
        <p:nvSpPr>
          <p:cNvPr id="16" name="Shape 14"/>
          <p:cNvSpPr/>
          <p:nvPr/>
        </p:nvSpPr>
        <p:spPr>
          <a:xfrm>
            <a:off x="8988552" y="1755648"/>
            <a:ext cx="2615184" cy="1188720"/>
          </a:xfrm>
          <a:prstGeom prst="roundRect">
            <a:avLst>
              <a:gd name="adj" fmla="val 4615"/>
            </a:avLst>
          </a:prstGeom>
          <a:solidFill>
            <a:srgbClr val="FFFFFF"/>
          </a:solidFill>
          <a:ln w="12700">
            <a:solidFill>
              <a:srgbClr val="D9D0E2"/>
            </a:solidFill>
            <a:prstDash val="solid"/>
          </a:ln>
        </p:spPr>
      </p:sp>
      <p:sp>
        <p:nvSpPr>
          <p:cNvPr id="17" name="Shape 15"/>
          <p:cNvSpPr/>
          <p:nvPr/>
        </p:nvSpPr>
        <p:spPr>
          <a:xfrm>
            <a:off x="8988552" y="1755648"/>
            <a:ext cx="2615184" cy="64008"/>
          </a:xfrm>
          <a:prstGeom prst="rect">
            <a:avLst/>
          </a:prstGeom>
          <a:solidFill>
            <a:srgbClr val="3A2778"/>
          </a:solidFill>
          <a:ln w="12700">
            <a:solidFill>
              <a:srgbClr val="3A2778"/>
            </a:solidFill>
            <a:prstDash val="solid"/>
          </a:ln>
        </p:spPr>
      </p:sp>
      <p:sp>
        <p:nvSpPr>
          <p:cNvPr id="18" name="Text 16"/>
          <p:cNvSpPr txBox="1"/>
          <p:nvPr/>
        </p:nvSpPr>
        <p:spPr>
          <a:xfrm>
            <a:off x="9134856" y="1938528"/>
            <a:ext cx="2322576" cy="566928"/>
          </a:xfrm>
          <a:prstGeom prst="rect">
            <a:avLst/>
          </a:prstGeom>
          <a:noFill/>
          <a:ln/>
        </p:spPr>
        <p:txBody>
          <a:bodyPr wrap="square" lIns="0" tIns="0" rIns="0" bIns="0" rtlCol="0" anchor="ctr"/>
          <a:lstStyle/>
          <a:p>
            <a:pPr marL="0" indent="0">
              <a:buNone/>
            </a:pPr>
            <a:r>
              <a:rPr lang="en-US" sz="2400" b="1" dirty="0">
                <a:solidFill>
                  <a:srgbClr val="1B1140"/>
                </a:solidFill>
                <a:latin typeface="Cambria" pitchFamily="34" charset="0"/>
                <a:ea typeface="Cambria" pitchFamily="34" charset="-122"/>
                <a:cs typeface="Cambria" pitchFamily="34" charset="-120"/>
              </a:rPr>
              <a:t>Rs 682</a:t>
            </a:r>
            <a:endParaRPr lang="en-US" sz="2400" dirty="0"/>
          </a:p>
        </p:txBody>
      </p:sp>
      <p:sp>
        <p:nvSpPr>
          <p:cNvPr id="19" name="Text 17"/>
          <p:cNvSpPr txBox="1"/>
          <p:nvPr/>
        </p:nvSpPr>
        <p:spPr>
          <a:xfrm>
            <a:off x="9134856" y="2523744"/>
            <a:ext cx="2322576" cy="292608"/>
          </a:xfrm>
          <a:prstGeom prst="rect">
            <a:avLst/>
          </a:prstGeom>
          <a:noFill/>
          <a:ln/>
        </p:spPr>
        <p:txBody>
          <a:bodyPr wrap="square" lIns="0" tIns="0" rIns="0" bIns="0" rtlCol="0" anchor="t"/>
          <a:lstStyle/>
          <a:p>
            <a:pPr marL="0" indent="0">
              <a:buNone/>
            </a:pPr>
            <a:r>
              <a:rPr lang="en-US" sz="1150" dirty="0">
                <a:solidFill>
                  <a:srgbClr val="4B4468"/>
                </a:solidFill>
                <a:latin typeface="Calibri" pitchFamily="34" charset="0"/>
                <a:ea typeface="Calibri" pitchFamily="34" charset="-122"/>
                <a:cs typeface="Calibri" pitchFamily="34" charset="-120"/>
              </a:rPr>
              <a:t>Average order value</a:t>
            </a:r>
            <a:endParaRPr lang="en-US" sz="1150" dirty="0"/>
          </a:p>
        </p:txBody>
      </p:sp>
      <p:sp>
        <p:nvSpPr>
          <p:cNvPr id="20" name="Text 18"/>
          <p:cNvSpPr txBox="1"/>
          <p:nvPr/>
        </p:nvSpPr>
        <p:spPr>
          <a:xfrm>
            <a:off x="621792" y="3154680"/>
            <a:ext cx="8229600" cy="274320"/>
          </a:xfrm>
          <a:prstGeom prst="rect">
            <a:avLst/>
          </a:prstGeom>
          <a:noFill/>
          <a:ln/>
        </p:spPr>
        <p:txBody>
          <a:bodyPr wrap="square" lIns="0" tIns="0" rIns="0" bIns="0" rtlCol="0" anchor="ctr"/>
          <a:lstStyle/>
          <a:p>
            <a:pPr marL="0" indent="0">
              <a:buNone/>
            </a:pPr>
            <a:r>
              <a:rPr lang="en-US" sz="1400" dirty="0">
                <a:solidFill>
                  <a:srgbClr val="4B4468"/>
                </a:solidFill>
                <a:latin typeface="Calibri" pitchFamily="34" charset="0"/>
                <a:ea typeface="Calibri" pitchFamily="34" charset="-122"/>
                <a:cs typeface="Calibri" pitchFamily="34" charset="-120"/>
              </a:rPr>
              <a:t>The file has 21 columns. These are the ones I used the most:</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4360" y="3520440"/>
          <a:ext cx="11018520" cy="2743200"/>
        </p:xfrm>
        <a:graphic>
          <a:graphicData uri="http://schemas.openxmlformats.org/drawingml/2006/table">
            <a:tbl>
              <a:tblPr/>
              <a:tblGrid>
                <a:gridCol w="3291840">
                  <a:extLst>
                    <a:ext uri="{9D8B030D-6E8A-4147-A177-3AD203B41FA5}">
                      <a16:colId xmlns:a16="http://schemas.microsoft.com/office/drawing/2014/main" val="20000"/>
                    </a:ext>
                  </a:extLst>
                </a:gridCol>
                <a:gridCol w="7726680">
                  <a:extLst>
                    <a:ext uri="{9D8B030D-6E8A-4147-A177-3AD203B41FA5}">
                      <a16:colId xmlns:a16="http://schemas.microsoft.com/office/drawing/2014/main" val="20001"/>
                    </a:ext>
                  </a:extLst>
                </a:gridCol>
              </a:tblGrid>
              <a:tr h="301752">
                <a:tc>
                  <a:txBody>
                    <a:bodyPr/>
                    <a:lstStyle/>
                    <a:p>
                      <a:pPr marL="0" indent="0">
                        <a:buNone/>
                      </a:pPr>
                      <a:r>
                        <a:rPr lang="en-US" sz="1250" b="1" dirty="0">
                          <a:solidFill>
                            <a:srgbClr val="4B4468"/>
                          </a:solidFill>
                          <a:latin typeface="Calibri" pitchFamily="34" charset="0"/>
                          <a:ea typeface="Calibri" pitchFamily="34" charset="-122"/>
                          <a:cs typeface="Calibri" pitchFamily="34" charset="-120"/>
                        </a:rPr>
                        <a:t>Column</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tc>
                  <a:txBody>
                    <a:bodyPr/>
                    <a:lstStyle/>
                    <a:p>
                      <a:pPr marL="0" indent="0">
                        <a:buNone/>
                      </a:pPr>
                      <a:r>
                        <a:rPr lang="en-US" sz="1250" b="1" dirty="0">
                          <a:solidFill>
                            <a:srgbClr val="4B4468"/>
                          </a:solidFill>
                          <a:latin typeface="Calibri" pitchFamily="34" charset="0"/>
                          <a:ea typeface="Calibri" pitchFamily="34" charset="-122"/>
                          <a:cs typeface="Calibri" pitchFamily="34" charset="-120"/>
                        </a:rPr>
                        <a:t>What it tells us</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01752">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Gender, Age, Age Group</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Who the customer is</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Date, Month</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When the order was placed</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Status</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Delivered, returned, cancelled or refunded</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Channel</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The website the order came from</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Category, Size, Qty</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What was bought</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Amount</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Money earned from the order, in rupees</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ship-city, ship-state</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tc>
                  <a:txBody>
                    <a:bodyPr/>
                    <a:lstStyle/>
                    <a:p>
                      <a:pPr marL="0" indent="0">
                        <a:buNone/>
                      </a:pPr>
                      <a:r>
                        <a:rPr lang="en-US" sz="1250" dirty="0">
                          <a:solidFill>
                            <a:srgbClr val="4B4468"/>
                          </a:solidFill>
                          <a:latin typeface="Calibri" pitchFamily="34" charset="0"/>
                          <a:ea typeface="Calibri" pitchFamily="34" charset="-122"/>
                          <a:cs typeface="Calibri" pitchFamily="34" charset="-120"/>
                        </a:rPr>
                        <a:t>Where it was delivered — 50 states covered</a:t>
                      </a:r>
                      <a:endParaRPr lang="en-US" sz="1250" dirty="0">
                        <a:latin typeface="Calibri" charset="0"/>
                        <a:ea typeface="Calibri" charset="0"/>
                        <a:cs typeface="Calibri" charset="0"/>
                      </a:endParaRPr>
                    </a:p>
                  </a:txBody>
                  <a:tcPr marL="76200" marR="76200" marT="76200" marB="76200" anchor="ctr">
                    <a:lnL w="12700" cap="flat" cmpd="sng" algn="ctr">
                      <a:solidFill>
                        <a:srgbClr val="D9D0E2"/>
                      </a:solidFill>
                      <a:prstDash val="solid"/>
                      <a:round/>
                      <a:headEnd type="none" w="med" len="med"/>
                      <a:tailEnd type="none" w="med" len="med"/>
                    </a:lnL>
                    <a:lnR w="12700" cap="flat" cmpd="sng" algn="ctr">
                      <a:solidFill>
                        <a:srgbClr val="D9D0E2"/>
                      </a:solidFill>
                      <a:prstDash val="solid"/>
                      <a:round/>
                      <a:headEnd type="none" w="med" len="med"/>
                      <a:tailEnd type="none" w="med" len="med"/>
                    </a:lnR>
                    <a:lnT w="12700" cap="flat" cmpd="sng" algn="ctr">
                      <a:solidFill>
                        <a:srgbClr val="D9D0E2"/>
                      </a:solidFill>
                      <a:prstDash val="solid"/>
                      <a:round/>
                      <a:headEnd type="none" w="med" len="med"/>
                      <a:tailEnd type="none" w="med" len="med"/>
                    </a:lnT>
                    <a:lnB w="12700" cap="flat" cmpd="sng" algn="ctr">
                      <a:solidFill>
                        <a:srgbClr val="D9D0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140"/>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1140"/>
          </a:solidFill>
          <a:ln/>
        </p:spPr>
      </p:sp>
      <p:sp>
        <p:nvSpPr>
          <p:cNvPr id="3" name="Shape 1"/>
          <p:cNvSpPr/>
          <p:nvPr/>
        </p:nvSpPr>
        <p:spPr>
          <a:xfrm>
            <a:off x="-2011680" y="-2926080"/>
            <a:ext cx="7772400" cy="7772400"/>
          </a:xfrm>
          <a:prstGeom prst="ellipse">
            <a:avLst/>
          </a:prstGeom>
          <a:solidFill>
            <a:srgbClr val="3A2778">
              <a:alpha val="45000"/>
            </a:srgbClr>
          </a:solidFill>
          <a:ln/>
        </p:spPr>
      </p:sp>
      <p:sp>
        <p:nvSpPr>
          <p:cNvPr id="4" name="Shape 2"/>
          <p:cNvSpPr/>
          <p:nvPr/>
        </p:nvSpPr>
        <p:spPr>
          <a:xfrm>
            <a:off x="7863840" y="3291840"/>
            <a:ext cx="6949440" cy="6949440"/>
          </a:xfrm>
          <a:prstGeom prst="ellipse">
            <a:avLst/>
          </a:prstGeom>
          <a:solidFill>
            <a:srgbClr val="5A2350">
              <a:alpha val="50000"/>
            </a:srgbClr>
          </a:solidFill>
          <a:ln/>
        </p:spPr>
      </p:sp>
      <p:sp>
        <p:nvSpPr>
          <p:cNvPr id="6" name="Text 4"/>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Objective and questions</a:t>
            </a:r>
            <a:endParaRPr lang="en-US" sz="3600" dirty="0"/>
          </a:p>
        </p:txBody>
      </p:sp>
      <p:sp>
        <p:nvSpPr>
          <p:cNvPr id="7" name="Text 5"/>
          <p:cNvSpPr txBox="1"/>
          <p:nvPr/>
        </p:nvSpPr>
        <p:spPr>
          <a:xfrm>
            <a:off x="621792" y="1691640"/>
            <a:ext cx="10607040" cy="685800"/>
          </a:xfrm>
          <a:prstGeom prst="rect">
            <a:avLst/>
          </a:prstGeom>
          <a:noFill/>
          <a:ln/>
        </p:spPr>
        <p:txBody>
          <a:bodyPr wrap="square" lIns="0" tIns="0" rIns="0" bIns="0" rtlCol="0" anchor="ctr"/>
          <a:lstStyle/>
          <a:p>
            <a:pPr marL="0" indent="0">
              <a:lnSpc>
                <a:spcPts val="2300"/>
              </a:lnSpc>
              <a:buNone/>
            </a:pPr>
            <a:r>
              <a:rPr lang="en-US" sz="1500" dirty="0">
                <a:solidFill>
                  <a:srgbClr val="DCD4EE"/>
                </a:solidFill>
                <a:latin typeface="Calibri" pitchFamily="34" charset="0"/>
                <a:ea typeface="Calibri" pitchFamily="34" charset="-122"/>
                <a:cs typeface="Calibri" pitchFamily="34" charset="-120"/>
              </a:rPr>
              <a:t>Khushi Store wants an annual sales report for 2026 so the owner can understand their customers better and grow sales in 2027. To do that, this project answers six questions.</a:t>
            </a:r>
            <a:endParaRPr lang="en-US" sz="1500" dirty="0"/>
          </a:p>
        </p:txBody>
      </p:sp>
      <p:sp>
        <p:nvSpPr>
          <p:cNvPr id="8" name="Shape 6"/>
          <p:cNvSpPr/>
          <p:nvPr/>
        </p:nvSpPr>
        <p:spPr>
          <a:xfrm>
            <a:off x="621792" y="2606040"/>
            <a:ext cx="5230368" cy="960120"/>
          </a:xfrm>
          <a:prstGeom prst="roundRect">
            <a:avLst>
              <a:gd name="adj" fmla="val 4762"/>
            </a:avLst>
          </a:prstGeom>
          <a:solidFill>
            <a:srgbClr val="3A2778"/>
          </a:solidFill>
          <a:ln w="12700">
            <a:solidFill>
              <a:srgbClr val="6B5BA0"/>
            </a:solidFill>
            <a:prstDash val="solid"/>
          </a:ln>
        </p:spPr>
      </p:sp>
      <p:sp>
        <p:nvSpPr>
          <p:cNvPr id="9" name="Shape 7"/>
          <p:cNvSpPr/>
          <p:nvPr/>
        </p:nvSpPr>
        <p:spPr>
          <a:xfrm>
            <a:off x="841248" y="2880360"/>
            <a:ext cx="411480" cy="411480"/>
          </a:xfrm>
          <a:prstGeom prst="ellipse">
            <a:avLst/>
          </a:prstGeom>
          <a:solidFill>
            <a:srgbClr val="F3A63B"/>
          </a:solidFill>
          <a:ln w="12700">
            <a:solidFill>
              <a:srgbClr val="333333"/>
            </a:solidFill>
            <a:prstDash val="solid"/>
          </a:ln>
        </p:spPr>
      </p:sp>
      <p:sp>
        <p:nvSpPr>
          <p:cNvPr id="10" name="Text 8"/>
          <p:cNvSpPr txBox="1"/>
          <p:nvPr/>
        </p:nvSpPr>
        <p:spPr>
          <a:xfrm>
            <a:off x="841248" y="2880360"/>
            <a:ext cx="411480" cy="411480"/>
          </a:xfrm>
          <a:prstGeom prst="rect">
            <a:avLst/>
          </a:prstGeom>
          <a:noFill/>
          <a:ln/>
        </p:spPr>
        <p:txBody>
          <a:bodyPr wrap="square" lIns="0" tIns="0" rIns="0" bIns="0" rtlCol="0" anchor="ctr"/>
          <a:lstStyle/>
          <a:p>
            <a:pPr marL="0" indent="0" algn="ctr">
              <a:buNone/>
            </a:pPr>
            <a:r>
              <a:rPr lang="en-US" sz="1400" b="1" dirty="0">
                <a:solidFill>
                  <a:srgbClr val="1B1140"/>
                </a:solidFill>
                <a:latin typeface="Cambria" pitchFamily="34" charset="0"/>
                <a:ea typeface="Cambria" pitchFamily="34" charset="-122"/>
                <a:cs typeface="Cambria" pitchFamily="34" charset="-120"/>
              </a:rPr>
              <a:t>1</a:t>
            </a:r>
            <a:endParaRPr lang="en-US" sz="1400" dirty="0"/>
          </a:p>
        </p:txBody>
      </p:sp>
      <p:sp>
        <p:nvSpPr>
          <p:cNvPr id="11" name="Text 9"/>
          <p:cNvSpPr txBox="1"/>
          <p:nvPr/>
        </p:nvSpPr>
        <p:spPr>
          <a:xfrm>
            <a:off x="1399032" y="2715768"/>
            <a:ext cx="4297680" cy="749808"/>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Which month got the highest sales and orders?</a:t>
            </a:r>
            <a:endParaRPr lang="en-US" sz="1350" dirty="0"/>
          </a:p>
        </p:txBody>
      </p:sp>
      <p:sp>
        <p:nvSpPr>
          <p:cNvPr id="12" name="Shape 10"/>
          <p:cNvSpPr/>
          <p:nvPr/>
        </p:nvSpPr>
        <p:spPr>
          <a:xfrm>
            <a:off x="6108192" y="2606040"/>
            <a:ext cx="5230368" cy="960120"/>
          </a:xfrm>
          <a:prstGeom prst="roundRect">
            <a:avLst>
              <a:gd name="adj" fmla="val 4762"/>
            </a:avLst>
          </a:prstGeom>
          <a:solidFill>
            <a:srgbClr val="3A2778"/>
          </a:solidFill>
          <a:ln w="12700">
            <a:solidFill>
              <a:srgbClr val="6B5BA0"/>
            </a:solidFill>
            <a:prstDash val="solid"/>
          </a:ln>
        </p:spPr>
      </p:sp>
      <p:sp>
        <p:nvSpPr>
          <p:cNvPr id="13" name="Shape 11"/>
          <p:cNvSpPr/>
          <p:nvPr/>
        </p:nvSpPr>
        <p:spPr>
          <a:xfrm>
            <a:off x="6327648" y="2880360"/>
            <a:ext cx="411480" cy="411480"/>
          </a:xfrm>
          <a:prstGeom prst="ellipse">
            <a:avLst/>
          </a:prstGeom>
          <a:solidFill>
            <a:srgbClr val="F3A63B"/>
          </a:solidFill>
          <a:ln w="12700">
            <a:solidFill>
              <a:srgbClr val="333333"/>
            </a:solidFill>
            <a:prstDash val="solid"/>
          </a:ln>
        </p:spPr>
      </p:sp>
      <p:sp>
        <p:nvSpPr>
          <p:cNvPr id="14" name="Text 12"/>
          <p:cNvSpPr txBox="1"/>
          <p:nvPr/>
        </p:nvSpPr>
        <p:spPr>
          <a:xfrm>
            <a:off x="6327648" y="2880360"/>
            <a:ext cx="411480" cy="411480"/>
          </a:xfrm>
          <a:prstGeom prst="rect">
            <a:avLst/>
          </a:prstGeom>
          <a:noFill/>
          <a:ln/>
        </p:spPr>
        <p:txBody>
          <a:bodyPr wrap="square" lIns="0" tIns="0" rIns="0" bIns="0" rtlCol="0" anchor="ctr"/>
          <a:lstStyle/>
          <a:p>
            <a:pPr marL="0" indent="0" algn="ctr">
              <a:buNone/>
            </a:pPr>
            <a:r>
              <a:rPr lang="en-US" sz="1400" b="1" dirty="0">
                <a:solidFill>
                  <a:srgbClr val="1B1140"/>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6885432" y="2715768"/>
            <a:ext cx="4297680" cy="749808"/>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Who purchases more — men or women?</a:t>
            </a:r>
            <a:endParaRPr lang="en-US" sz="1350" dirty="0"/>
          </a:p>
        </p:txBody>
      </p:sp>
      <p:sp>
        <p:nvSpPr>
          <p:cNvPr id="16" name="Shape 14"/>
          <p:cNvSpPr/>
          <p:nvPr/>
        </p:nvSpPr>
        <p:spPr>
          <a:xfrm>
            <a:off x="621792" y="3776472"/>
            <a:ext cx="5230368" cy="960120"/>
          </a:xfrm>
          <a:prstGeom prst="roundRect">
            <a:avLst>
              <a:gd name="adj" fmla="val 4762"/>
            </a:avLst>
          </a:prstGeom>
          <a:solidFill>
            <a:srgbClr val="3A2778"/>
          </a:solidFill>
          <a:ln w="12700">
            <a:solidFill>
              <a:srgbClr val="6B5BA0"/>
            </a:solidFill>
            <a:prstDash val="solid"/>
          </a:ln>
        </p:spPr>
      </p:sp>
      <p:sp>
        <p:nvSpPr>
          <p:cNvPr id="17" name="Shape 15"/>
          <p:cNvSpPr/>
          <p:nvPr/>
        </p:nvSpPr>
        <p:spPr>
          <a:xfrm>
            <a:off x="841248" y="4050792"/>
            <a:ext cx="411480" cy="411480"/>
          </a:xfrm>
          <a:prstGeom prst="ellipse">
            <a:avLst/>
          </a:prstGeom>
          <a:solidFill>
            <a:srgbClr val="F3A63B"/>
          </a:solidFill>
          <a:ln w="12700">
            <a:solidFill>
              <a:srgbClr val="333333"/>
            </a:solidFill>
            <a:prstDash val="solid"/>
          </a:ln>
        </p:spPr>
      </p:sp>
      <p:sp>
        <p:nvSpPr>
          <p:cNvPr id="18" name="Text 16"/>
          <p:cNvSpPr txBox="1"/>
          <p:nvPr/>
        </p:nvSpPr>
        <p:spPr>
          <a:xfrm>
            <a:off x="841248" y="4050792"/>
            <a:ext cx="411480" cy="411480"/>
          </a:xfrm>
          <a:prstGeom prst="rect">
            <a:avLst/>
          </a:prstGeom>
          <a:noFill/>
          <a:ln/>
        </p:spPr>
        <p:txBody>
          <a:bodyPr wrap="square" lIns="0" tIns="0" rIns="0" bIns="0" rtlCol="0" anchor="ctr"/>
          <a:lstStyle/>
          <a:p>
            <a:pPr marL="0" indent="0" algn="ctr">
              <a:buNone/>
            </a:pPr>
            <a:r>
              <a:rPr lang="en-US" sz="1400" b="1" dirty="0">
                <a:solidFill>
                  <a:srgbClr val="1B1140"/>
                </a:solidFill>
                <a:latin typeface="Cambria" pitchFamily="34" charset="0"/>
                <a:ea typeface="Cambria" pitchFamily="34" charset="-122"/>
                <a:cs typeface="Cambria" pitchFamily="34" charset="-120"/>
              </a:rPr>
              <a:t>3</a:t>
            </a:r>
            <a:endParaRPr lang="en-US" sz="1400" dirty="0"/>
          </a:p>
        </p:txBody>
      </p:sp>
      <p:sp>
        <p:nvSpPr>
          <p:cNvPr id="19" name="Text 17"/>
          <p:cNvSpPr txBox="1"/>
          <p:nvPr/>
        </p:nvSpPr>
        <p:spPr>
          <a:xfrm>
            <a:off x="1399032" y="3886200"/>
            <a:ext cx="4297680" cy="749808"/>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What are the different order statuses in 2026?</a:t>
            </a:r>
            <a:endParaRPr lang="en-US" sz="1350" dirty="0"/>
          </a:p>
        </p:txBody>
      </p:sp>
      <p:sp>
        <p:nvSpPr>
          <p:cNvPr id="20" name="Shape 18"/>
          <p:cNvSpPr/>
          <p:nvPr/>
        </p:nvSpPr>
        <p:spPr>
          <a:xfrm>
            <a:off x="6108192" y="3776472"/>
            <a:ext cx="5230368" cy="960120"/>
          </a:xfrm>
          <a:prstGeom prst="roundRect">
            <a:avLst>
              <a:gd name="adj" fmla="val 4762"/>
            </a:avLst>
          </a:prstGeom>
          <a:solidFill>
            <a:srgbClr val="3A2778"/>
          </a:solidFill>
          <a:ln w="12700">
            <a:solidFill>
              <a:srgbClr val="6B5BA0"/>
            </a:solidFill>
            <a:prstDash val="solid"/>
          </a:ln>
        </p:spPr>
      </p:sp>
      <p:sp>
        <p:nvSpPr>
          <p:cNvPr id="21" name="Shape 19"/>
          <p:cNvSpPr/>
          <p:nvPr/>
        </p:nvSpPr>
        <p:spPr>
          <a:xfrm>
            <a:off x="6327648" y="4050792"/>
            <a:ext cx="411480" cy="411480"/>
          </a:xfrm>
          <a:prstGeom prst="ellipse">
            <a:avLst/>
          </a:prstGeom>
          <a:solidFill>
            <a:srgbClr val="F3A63B"/>
          </a:solidFill>
          <a:ln w="12700">
            <a:solidFill>
              <a:srgbClr val="333333"/>
            </a:solidFill>
            <a:prstDash val="solid"/>
          </a:ln>
        </p:spPr>
      </p:sp>
      <p:sp>
        <p:nvSpPr>
          <p:cNvPr id="22" name="Text 20"/>
          <p:cNvSpPr txBox="1"/>
          <p:nvPr/>
        </p:nvSpPr>
        <p:spPr>
          <a:xfrm>
            <a:off x="6327648" y="4050792"/>
            <a:ext cx="411480" cy="411480"/>
          </a:xfrm>
          <a:prstGeom prst="rect">
            <a:avLst/>
          </a:prstGeom>
          <a:noFill/>
          <a:ln/>
        </p:spPr>
        <p:txBody>
          <a:bodyPr wrap="square" lIns="0" tIns="0" rIns="0" bIns="0" rtlCol="0" anchor="ctr"/>
          <a:lstStyle/>
          <a:p>
            <a:pPr marL="0" indent="0" algn="ctr">
              <a:buNone/>
            </a:pPr>
            <a:r>
              <a:rPr lang="en-US" sz="1400" b="1" dirty="0">
                <a:solidFill>
                  <a:srgbClr val="1B1140"/>
                </a:solidFill>
                <a:latin typeface="Cambria" pitchFamily="34" charset="0"/>
                <a:ea typeface="Cambria" pitchFamily="34" charset="-122"/>
                <a:cs typeface="Cambria" pitchFamily="34" charset="-120"/>
              </a:rPr>
              <a:t>4</a:t>
            </a:r>
            <a:endParaRPr lang="en-US" sz="1400" dirty="0"/>
          </a:p>
        </p:txBody>
      </p:sp>
      <p:sp>
        <p:nvSpPr>
          <p:cNvPr id="23" name="Text 21"/>
          <p:cNvSpPr txBox="1"/>
          <p:nvPr/>
        </p:nvSpPr>
        <p:spPr>
          <a:xfrm>
            <a:off x="6885432" y="3886200"/>
            <a:ext cx="4297680" cy="749808"/>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Which are the top 5 states contributing to sales?</a:t>
            </a:r>
            <a:endParaRPr lang="en-US" sz="1350" dirty="0"/>
          </a:p>
        </p:txBody>
      </p:sp>
      <p:sp>
        <p:nvSpPr>
          <p:cNvPr id="24" name="Shape 22"/>
          <p:cNvSpPr/>
          <p:nvPr/>
        </p:nvSpPr>
        <p:spPr>
          <a:xfrm>
            <a:off x="621792" y="4946904"/>
            <a:ext cx="5230368" cy="960120"/>
          </a:xfrm>
          <a:prstGeom prst="roundRect">
            <a:avLst>
              <a:gd name="adj" fmla="val 4762"/>
            </a:avLst>
          </a:prstGeom>
          <a:solidFill>
            <a:srgbClr val="3A2778"/>
          </a:solidFill>
          <a:ln w="12700">
            <a:solidFill>
              <a:srgbClr val="6B5BA0"/>
            </a:solidFill>
            <a:prstDash val="solid"/>
          </a:ln>
        </p:spPr>
      </p:sp>
      <p:sp>
        <p:nvSpPr>
          <p:cNvPr id="25" name="Shape 23"/>
          <p:cNvSpPr/>
          <p:nvPr/>
        </p:nvSpPr>
        <p:spPr>
          <a:xfrm>
            <a:off x="841248" y="5221224"/>
            <a:ext cx="411480" cy="411480"/>
          </a:xfrm>
          <a:prstGeom prst="ellipse">
            <a:avLst/>
          </a:prstGeom>
          <a:solidFill>
            <a:srgbClr val="F3A63B"/>
          </a:solidFill>
          <a:ln w="12700">
            <a:solidFill>
              <a:srgbClr val="333333"/>
            </a:solidFill>
            <a:prstDash val="solid"/>
          </a:ln>
        </p:spPr>
      </p:sp>
      <p:sp>
        <p:nvSpPr>
          <p:cNvPr id="26" name="Text 24"/>
          <p:cNvSpPr txBox="1"/>
          <p:nvPr/>
        </p:nvSpPr>
        <p:spPr>
          <a:xfrm>
            <a:off x="841248" y="5221224"/>
            <a:ext cx="411480" cy="411480"/>
          </a:xfrm>
          <a:prstGeom prst="rect">
            <a:avLst/>
          </a:prstGeom>
          <a:noFill/>
          <a:ln/>
        </p:spPr>
        <p:txBody>
          <a:bodyPr wrap="square" lIns="0" tIns="0" rIns="0" bIns="0" rtlCol="0" anchor="ctr"/>
          <a:lstStyle/>
          <a:p>
            <a:pPr marL="0" indent="0" algn="ctr">
              <a:buNone/>
            </a:pPr>
            <a:r>
              <a:rPr lang="en-US" sz="1400" b="1" dirty="0">
                <a:solidFill>
                  <a:srgbClr val="1B1140"/>
                </a:solidFill>
                <a:latin typeface="Cambria" pitchFamily="34" charset="0"/>
                <a:ea typeface="Cambria" pitchFamily="34" charset="-122"/>
                <a:cs typeface="Cambria" pitchFamily="34" charset="-120"/>
              </a:rPr>
              <a:t>5</a:t>
            </a:r>
            <a:endParaRPr lang="en-US" sz="1400" dirty="0"/>
          </a:p>
        </p:txBody>
      </p:sp>
      <p:sp>
        <p:nvSpPr>
          <p:cNvPr id="27" name="Text 25"/>
          <p:cNvSpPr txBox="1"/>
          <p:nvPr/>
        </p:nvSpPr>
        <p:spPr>
          <a:xfrm>
            <a:off x="1399032" y="5056632"/>
            <a:ext cx="4297680" cy="749808"/>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What is the relationship between age and gender?</a:t>
            </a:r>
            <a:endParaRPr lang="en-US" sz="1350" dirty="0"/>
          </a:p>
        </p:txBody>
      </p:sp>
      <p:sp>
        <p:nvSpPr>
          <p:cNvPr id="28" name="Shape 26"/>
          <p:cNvSpPr/>
          <p:nvPr/>
        </p:nvSpPr>
        <p:spPr>
          <a:xfrm>
            <a:off x="6108192" y="4946904"/>
            <a:ext cx="5230368" cy="960120"/>
          </a:xfrm>
          <a:prstGeom prst="roundRect">
            <a:avLst>
              <a:gd name="adj" fmla="val 4762"/>
            </a:avLst>
          </a:prstGeom>
          <a:solidFill>
            <a:srgbClr val="3A2778"/>
          </a:solidFill>
          <a:ln w="12700">
            <a:solidFill>
              <a:srgbClr val="6B5BA0"/>
            </a:solidFill>
            <a:prstDash val="solid"/>
          </a:ln>
        </p:spPr>
      </p:sp>
      <p:sp>
        <p:nvSpPr>
          <p:cNvPr id="29" name="Shape 27"/>
          <p:cNvSpPr/>
          <p:nvPr/>
        </p:nvSpPr>
        <p:spPr>
          <a:xfrm>
            <a:off x="6327648" y="5221224"/>
            <a:ext cx="411480" cy="411480"/>
          </a:xfrm>
          <a:prstGeom prst="ellipse">
            <a:avLst/>
          </a:prstGeom>
          <a:solidFill>
            <a:srgbClr val="F3A63B"/>
          </a:solidFill>
          <a:ln w="12700">
            <a:solidFill>
              <a:srgbClr val="333333"/>
            </a:solidFill>
            <a:prstDash val="solid"/>
          </a:ln>
        </p:spPr>
      </p:sp>
      <p:sp>
        <p:nvSpPr>
          <p:cNvPr id="30" name="Text 28"/>
          <p:cNvSpPr txBox="1"/>
          <p:nvPr/>
        </p:nvSpPr>
        <p:spPr>
          <a:xfrm>
            <a:off x="6327648" y="5221224"/>
            <a:ext cx="411480" cy="411480"/>
          </a:xfrm>
          <a:prstGeom prst="rect">
            <a:avLst/>
          </a:prstGeom>
          <a:noFill/>
          <a:ln/>
        </p:spPr>
        <p:txBody>
          <a:bodyPr wrap="square" lIns="0" tIns="0" rIns="0" bIns="0" rtlCol="0" anchor="ctr"/>
          <a:lstStyle/>
          <a:p>
            <a:pPr marL="0" indent="0" algn="ctr">
              <a:buNone/>
            </a:pPr>
            <a:r>
              <a:rPr lang="en-US" sz="1400" b="1" dirty="0">
                <a:solidFill>
                  <a:srgbClr val="1B1140"/>
                </a:solidFill>
                <a:latin typeface="Cambria" pitchFamily="34" charset="0"/>
                <a:ea typeface="Cambria" pitchFamily="34" charset="-122"/>
                <a:cs typeface="Cambria" pitchFamily="34" charset="-120"/>
              </a:rPr>
              <a:t>6</a:t>
            </a:r>
            <a:endParaRPr lang="en-US" sz="1400" dirty="0"/>
          </a:p>
        </p:txBody>
      </p:sp>
      <p:sp>
        <p:nvSpPr>
          <p:cNvPr id="31" name="Text 29"/>
          <p:cNvSpPr txBox="1"/>
          <p:nvPr/>
        </p:nvSpPr>
        <p:spPr>
          <a:xfrm>
            <a:off x="6885432" y="5056632"/>
            <a:ext cx="4297680" cy="749808"/>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Which sales channel brings the most orders?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How I did it</a:t>
            </a:r>
            <a:endParaRPr lang="en-US" sz="3600" dirty="0"/>
          </a:p>
        </p:txBody>
      </p:sp>
      <p:sp>
        <p:nvSpPr>
          <p:cNvPr id="4" name="Text 2"/>
          <p:cNvSpPr txBox="1"/>
          <p:nvPr/>
        </p:nvSpPr>
        <p:spPr>
          <a:xfrm>
            <a:off x="621792" y="1664208"/>
            <a:ext cx="8229600" cy="274320"/>
          </a:xfrm>
          <a:prstGeom prst="rect">
            <a:avLst/>
          </a:prstGeom>
          <a:noFill/>
          <a:ln/>
        </p:spPr>
        <p:txBody>
          <a:bodyPr wrap="square" lIns="0" tIns="0" rIns="0" bIns="0" rtlCol="0" anchor="ctr"/>
          <a:lstStyle/>
          <a:p>
            <a:pPr marL="0" indent="0">
              <a:buNone/>
            </a:pPr>
            <a:r>
              <a:rPr lang="en-US" sz="1450" dirty="0">
                <a:solidFill>
                  <a:srgbClr val="4B4468"/>
                </a:solidFill>
                <a:latin typeface="Calibri" pitchFamily="34" charset="0"/>
                <a:ea typeface="Calibri" pitchFamily="34" charset="-122"/>
                <a:cs typeface="Calibri" pitchFamily="34" charset="-120"/>
              </a:rPr>
              <a:t>The whole project was done in Microsoft Excel, in five steps.</a:t>
            </a:r>
            <a:endParaRPr lang="en-US" sz="1450" dirty="0"/>
          </a:p>
        </p:txBody>
      </p:sp>
      <p:sp>
        <p:nvSpPr>
          <p:cNvPr id="5" name="Shape 3"/>
          <p:cNvSpPr/>
          <p:nvPr/>
        </p:nvSpPr>
        <p:spPr>
          <a:xfrm>
            <a:off x="594360" y="2148840"/>
            <a:ext cx="3520440" cy="1755648"/>
          </a:xfrm>
          <a:prstGeom prst="roundRect">
            <a:avLst>
              <a:gd name="adj" fmla="val 2604"/>
            </a:avLst>
          </a:prstGeom>
          <a:solidFill>
            <a:srgbClr val="FFFFFF"/>
          </a:solidFill>
          <a:ln w="12700">
            <a:solidFill>
              <a:srgbClr val="D9D0E2"/>
            </a:solidFill>
            <a:prstDash val="solid"/>
          </a:ln>
        </p:spPr>
      </p:sp>
      <p:sp>
        <p:nvSpPr>
          <p:cNvPr id="6" name="Text 4"/>
          <p:cNvSpPr txBox="1"/>
          <p:nvPr/>
        </p:nvSpPr>
        <p:spPr>
          <a:xfrm>
            <a:off x="777240" y="2295144"/>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1 · Collect the data</a:t>
            </a:r>
            <a:endParaRPr lang="en-US" sz="1450" dirty="0"/>
          </a:p>
        </p:txBody>
      </p:sp>
      <p:sp>
        <p:nvSpPr>
          <p:cNvPr id="7" name="Text 5"/>
          <p:cNvSpPr txBox="1"/>
          <p:nvPr/>
        </p:nvSpPr>
        <p:spPr>
          <a:xfrm>
            <a:off x="777240" y="2642616"/>
            <a:ext cx="3154680" cy="111556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Loaded the sales file of 31,047 orders into one Excel sheet.</a:t>
            </a:r>
            <a:endParaRPr lang="en-US" sz="1200" dirty="0"/>
          </a:p>
        </p:txBody>
      </p:sp>
      <p:sp>
        <p:nvSpPr>
          <p:cNvPr id="8" name="Shape 6"/>
          <p:cNvSpPr/>
          <p:nvPr/>
        </p:nvSpPr>
        <p:spPr>
          <a:xfrm>
            <a:off x="4288536" y="2148840"/>
            <a:ext cx="3520440" cy="1755648"/>
          </a:xfrm>
          <a:prstGeom prst="roundRect">
            <a:avLst>
              <a:gd name="adj" fmla="val 2604"/>
            </a:avLst>
          </a:prstGeom>
          <a:solidFill>
            <a:srgbClr val="FFFFFF"/>
          </a:solidFill>
          <a:ln w="12700">
            <a:solidFill>
              <a:srgbClr val="D9D0E2"/>
            </a:solidFill>
            <a:prstDash val="solid"/>
          </a:ln>
        </p:spPr>
      </p:sp>
      <p:sp>
        <p:nvSpPr>
          <p:cNvPr id="9" name="Text 7"/>
          <p:cNvSpPr txBox="1"/>
          <p:nvPr/>
        </p:nvSpPr>
        <p:spPr>
          <a:xfrm>
            <a:off x="4471416" y="2295144"/>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2 · Clean the data</a:t>
            </a:r>
            <a:endParaRPr lang="en-US" sz="1450" dirty="0"/>
          </a:p>
        </p:txBody>
      </p:sp>
      <p:sp>
        <p:nvSpPr>
          <p:cNvPr id="10" name="Text 8"/>
          <p:cNvSpPr txBox="1"/>
          <p:nvPr/>
        </p:nvSpPr>
        <p:spPr>
          <a:xfrm>
            <a:off x="4471416" y="2642616"/>
            <a:ext cx="3154680" cy="111556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Removed blank and duplicate rows, fixed state-name spellings, and checked every date and amount format.</a:t>
            </a:r>
            <a:endParaRPr lang="en-US" sz="1200" dirty="0"/>
          </a:p>
        </p:txBody>
      </p:sp>
      <p:sp>
        <p:nvSpPr>
          <p:cNvPr id="11" name="Shape 9"/>
          <p:cNvSpPr/>
          <p:nvPr/>
        </p:nvSpPr>
        <p:spPr>
          <a:xfrm>
            <a:off x="7982712" y="2148840"/>
            <a:ext cx="3520440" cy="1755648"/>
          </a:xfrm>
          <a:prstGeom prst="roundRect">
            <a:avLst>
              <a:gd name="adj" fmla="val 2604"/>
            </a:avLst>
          </a:prstGeom>
          <a:solidFill>
            <a:srgbClr val="FFFFFF"/>
          </a:solidFill>
          <a:ln w="12700">
            <a:solidFill>
              <a:srgbClr val="D9D0E2"/>
            </a:solidFill>
            <a:prstDash val="solid"/>
          </a:ln>
        </p:spPr>
      </p:sp>
      <p:sp>
        <p:nvSpPr>
          <p:cNvPr id="12" name="Text 10"/>
          <p:cNvSpPr txBox="1"/>
          <p:nvPr/>
        </p:nvSpPr>
        <p:spPr>
          <a:xfrm>
            <a:off x="8165592" y="2295144"/>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3 · Summarise</a:t>
            </a:r>
            <a:endParaRPr lang="en-US" sz="1450" dirty="0"/>
          </a:p>
        </p:txBody>
      </p:sp>
      <p:sp>
        <p:nvSpPr>
          <p:cNvPr id="13" name="Text 11"/>
          <p:cNvSpPr txBox="1"/>
          <p:nvPr/>
        </p:nvSpPr>
        <p:spPr>
          <a:xfrm>
            <a:off x="8165592" y="2642616"/>
            <a:ext cx="3154680" cy="111556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Built one pivot table for each question — month, gender, status, state, age group and channel.</a:t>
            </a:r>
            <a:endParaRPr lang="en-US" sz="1200" dirty="0"/>
          </a:p>
        </p:txBody>
      </p:sp>
      <p:sp>
        <p:nvSpPr>
          <p:cNvPr id="14" name="Shape 12"/>
          <p:cNvSpPr/>
          <p:nvPr/>
        </p:nvSpPr>
        <p:spPr>
          <a:xfrm>
            <a:off x="594360" y="4114800"/>
            <a:ext cx="3520440" cy="1755648"/>
          </a:xfrm>
          <a:prstGeom prst="roundRect">
            <a:avLst>
              <a:gd name="adj" fmla="val 2604"/>
            </a:avLst>
          </a:prstGeom>
          <a:solidFill>
            <a:srgbClr val="FFFFFF"/>
          </a:solidFill>
          <a:ln w="12700">
            <a:solidFill>
              <a:srgbClr val="D9D0E2"/>
            </a:solidFill>
            <a:prstDash val="solid"/>
          </a:ln>
        </p:spPr>
      </p:sp>
      <p:sp>
        <p:nvSpPr>
          <p:cNvPr id="15" name="Text 13"/>
          <p:cNvSpPr txBox="1"/>
          <p:nvPr/>
        </p:nvSpPr>
        <p:spPr>
          <a:xfrm>
            <a:off x="777240" y="4261104"/>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4 · Make charts</a:t>
            </a:r>
            <a:endParaRPr lang="en-US" sz="1450" dirty="0"/>
          </a:p>
        </p:txBody>
      </p:sp>
      <p:sp>
        <p:nvSpPr>
          <p:cNvPr id="16" name="Text 14"/>
          <p:cNvSpPr txBox="1"/>
          <p:nvPr/>
        </p:nvSpPr>
        <p:spPr>
          <a:xfrm>
            <a:off x="777240" y="4608576"/>
            <a:ext cx="3154680" cy="111556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Turned each pivot table into a bar or column chart so the pattern can be seen instantly.</a:t>
            </a:r>
            <a:endParaRPr lang="en-US" sz="1200" dirty="0"/>
          </a:p>
        </p:txBody>
      </p:sp>
      <p:sp>
        <p:nvSpPr>
          <p:cNvPr id="17" name="Shape 15"/>
          <p:cNvSpPr/>
          <p:nvPr/>
        </p:nvSpPr>
        <p:spPr>
          <a:xfrm>
            <a:off x="4288536" y="4114800"/>
            <a:ext cx="3520440" cy="1755648"/>
          </a:xfrm>
          <a:prstGeom prst="roundRect">
            <a:avLst>
              <a:gd name="adj" fmla="val 2604"/>
            </a:avLst>
          </a:prstGeom>
          <a:solidFill>
            <a:srgbClr val="FFFFFF"/>
          </a:solidFill>
          <a:ln w="12700">
            <a:solidFill>
              <a:srgbClr val="D9D0E2"/>
            </a:solidFill>
            <a:prstDash val="solid"/>
          </a:ln>
        </p:spPr>
      </p:sp>
      <p:sp>
        <p:nvSpPr>
          <p:cNvPr id="18" name="Text 16"/>
          <p:cNvSpPr txBox="1"/>
          <p:nvPr/>
        </p:nvSpPr>
        <p:spPr>
          <a:xfrm>
            <a:off x="4471416" y="4261104"/>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5 · Build a dashboard</a:t>
            </a:r>
            <a:endParaRPr lang="en-US" sz="1450" dirty="0"/>
          </a:p>
        </p:txBody>
      </p:sp>
      <p:sp>
        <p:nvSpPr>
          <p:cNvPr id="19" name="Text 17"/>
          <p:cNvSpPr txBox="1"/>
          <p:nvPr/>
        </p:nvSpPr>
        <p:spPr>
          <a:xfrm>
            <a:off x="4471416" y="4608576"/>
            <a:ext cx="3154680" cy="111556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Placed all charts on one sheet with slicers, so the full year can be read at a glance.</a:t>
            </a:r>
            <a:endParaRPr lang="en-US" sz="1200" dirty="0"/>
          </a:p>
        </p:txBody>
      </p:sp>
      <p:sp>
        <p:nvSpPr>
          <p:cNvPr id="20" name="Shape 18"/>
          <p:cNvSpPr/>
          <p:nvPr/>
        </p:nvSpPr>
        <p:spPr>
          <a:xfrm>
            <a:off x="7982712" y="4114800"/>
            <a:ext cx="3520440" cy="1755648"/>
          </a:xfrm>
          <a:prstGeom prst="roundRect">
            <a:avLst>
              <a:gd name="adj" fmla="val 2604"/>
            </a:avLst>
          </a:prstGeom>
          <a:solidFill>
            <a:srgbClr val="FFFFFF"/>
          </a:solidFill>
          <a:ln w="12700">
            <a:solidFill>
              <a:srgbClr val="D9D0E2"/>
            </a:solidFill>
            <a:prstDash val="solid"/>
          </a:ln>
        </p:spPr>
      </p:sp>
      <p:sp>
        <p:nvSpPr>
          <p:cNvPr id="21" name="Text 19"/>
          <p:cNvSpPr txBox="1"/>
          <p:nvPr/>
        </p:nvSpPr>
        <p:spPr>
          <a:xfrm>
            <a:off x="8165592" y="4261104"/>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Tools used</a:t>
            </a:r>
            <a:endParaRPr lang="en-US" sz="1450" dirty="0"/>
          </a:p>
        </p:txBody>
      </p:sp>
      <p:sp>
        <p:nvSpPr>
          <p:cNvPr id="22" name="Text 20"/>
          <p:cNvSpPr txBox="1"/>
          <p:nvPr/>
        </p:nvSpPr>
        <p:spPr>
          <a:xfrm>
            <a:off x="8165592" y="4608576"/>
            <a:ext cx="3154680" cy="111556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Excel pivot tables, pivot charts, slicers, and basic functions for cleaning and checking totals.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Which month got the highest sales?</a:t>
            </a:r>
            <a:endParaRPr lang="en-US" sz="3600" dirty="0"/>
          </a:p>
        </p:txBody>
      </p:sp>
      <p:graphicFrame>
        <p:nvGraphicFramePr>
          <p:cNvPr id="4" name="Chart 0"/>
          <p:cNvGraphicFramePr/>
          <p:nvPr/>
        </p:nvGraphicFramePr>
        <p:xfrm>
          <a:off x="566928" y="1691640"/>
          <a:ext cx="110642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03504" y="5833872"/>
            <a:ext cx="10972800" cy="365760"/>
          </a:xfrm>
          <a:prstGeom prst="rect">
            <a:avLst/>
          </a:prstGeom>
          <a:noFill/>
          <a:ln/>
        </p:spPr>
        <p:txBody>
          <a:bodyPr wrap="square" lIns="0" tIns="0" rIns="0" bIns="0" rtlCol="0" anchor="ctr"/>
          <a:lstStyle/>
          <a:p>
            <a:pPr marL="0" indent="0">
              <a:buNone/>
            </a:pPr>
            <a:r>
              <a:rPr lang="en-US" sz="1250" dirty="0">
                <a:solidFill>
                  <a:srgbClr val="4B4468"/>
                </a:solidFill>
                <a:latin typeface="Calibri" pitchFamily="34" charset="0"/>
                <a:ea typeface="Calibri" pitchFamily="34" charset="-122"/>
                <a:cs typeface="Calibri" pitchFamily="34" charset="-120"/>
              </a:rPr>
              <a:t>The purple bars are money earned. The orange line is the number of orders. They rise and fall together.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March was the best month</a:t>
            </a:r>
            <a:endParaRPr lang="en-US" sz="3600" dirty="0"/>
          </a:p>
        </p:txBody>
      </p:sp>
      <p:sp>
        <p:nvSpPr>
          <p:cNvPr id="4" name="Shape 2"/>
          <p:cNvSpPr/>
          <p:nvPr/>
        </p:nvSpPr>
        <p:spPr>
          <a:xfrm>
            <a:off x="594360" y="1737360"/>
            <a:ext cx="3520440" cy="1234440"/>
          </a:xfrm>
          <a:prstGeom prst="roundRect">
            <a:avLst>
              <a:gd name="adj" fmla="val 4444"/>
            </a:avLst>
          </a:prstGeom>
          <a:solidFill>
            <a:srgbClr val="FFFFFF"/>
          </a:solidFill>
          <a:ln w="12700">
            <a:solidFill>
              <a:srgbClr val="D9D0E2"/>
            </a:solidFill>
            <a:prstDash val="solid"/>
          </a:ln>
        </p:spPr>
      </p:sp>
      <p:sp>
        <p:nvSpPr>
          <p:cNvPr id="5" name="Shape 3"/>
          <p:cNvSpPr/>
          <p:nvPr/>
        </p:nvSpPr>
        <p:spPr>
          <a:xfrm>
            <a:off x="594360" y="1737360"/>
            <a:ext cx="3520440" cy="64008"/>
          </a:xfrm>
          <a:prstGeom prst="rect">
            <a:avLst/>
          </a:prstGeom>
          <a:solidFill>
            <a:srgbClr val="F3A63B"/>
          </a:solidFill>
          <a:ln w="12700">
            <a:solidFill>
              <a:srgbClr val="F3A63B"/>
            </a:solidFill>
            <a:prstDash val="solid"/>
          </a:ln>
        </p:spPr>
      </p:sp>
      <p:sp>
        <p:nvSpPr>
          <p:cNvPr id="6" name="Text 4"/>
          <p:cNvSpPr txBox="1"/>
          <p:nvPr/>
        </p:nvSpPr>
        <p:spPr>
          <a:xfrm>
            <a:off x="740664" y="1920240"/>
            <a:ext cx="3227832" cy="566928"/>
          </a:xfrm>
          <a:prstGeom prst="rect">
            <a:avLst/>
          </a:prstGeom>
          <a:noFill/>
          <a:ln/>
        </p:spPr>
        <p:txBody>
          <a:bodyPr wrap="square" lIns="0" tIns="0" rIns="0" bIns="0" rtlCol="0" anchor="ctr"/>
          <a:lstStyle/>
          <a:p>
            <a:pPr marL="0" indent="0">
              <a:buNone/>
            </a:pPr>
            <a:r>
              <a:rPr lang="en-US" sz="2400" b="1" dirty="0">
                <a:solidFill>
                  <a:srgbClr val="1B1140"/>
                </a:solidFill>
                <a:latin typeface="Cambria" pitchFamily="34" charset="0"/>
                <a:ea typeface="Cambria" pitchFamily="34" charset="-122"/>
                <a:cs typeface="Cambria" pitchFamily="34" charset="-120"/>
              </a:rPr>
              <a:t>March</a:t>
            </a:r>
            <a:endParaRPr lang="en-US" sz="2400" dirty="0"/>
          </a:p>
        </p:txBody>
      </p:sp>
      <p:sp>
        <p:nvSpPr>
          <p:cNvPr id="7" name="Text 5"/>
          <p:cNvSpPr txBox="1"/>
          <p:nvPr/>
        </p:nvSpPr>
        <p:spPr>
          <a:xfrm>
            <a:off x="740664" y="2505456"/>
            <a:ext cx="3227832" cy="338328"/>
          </a:xfrm>
          <a:prstGeom prst="rect">
            <a:avLst/>
          </a:prstGeom>
          <a:noFill/>
          <a:ln/>
        </p:spPr>
        <p:txBody>
          <a:bodyPr wrap="square" lIns="0" tIns="0" rIns="0" bIns="0" rtlCol="0" anchor="t"/>
          <a:lstStyle/>
          <a:p>
            <a:pPr marL="0" indent="0">
              <a:buNone/>
            </a:pPr>
            <a:r>
              <a:rPr lang="en-US" sz="1150" dirty="0">
                <a:solidFill>
                  <a:srgbClr val="4B4468"/>
                </a:solidFill>
                <a:latin typeface="Calibri" pitchFamily="34" charset="0"/>
                <a:ea typeface="Calibri" pitchFamily="34" charset="-122"/>
                <a:cs typeface="Calibri" pitchFamily="34" charset="-120"/>
              </a:rPr>
              <a:t>Highest — Rs 19,28,066 from 2,819 orders</a:t>
            </a:r>
            <a:endParaRPr lang="en-US" sz="1150" dirty="0"/>
          </a:p>
        </p:txBody>
      </p:sp>
      <p:sp>
        <p:nvSpPr>
          <p:cNvPr id="8" name="Shape 6"/>
          <p:cNvSpPr/>
          <p:nvPr/>
        </p:nvSpPr>
        <p:spPr>
          <a:xfrm>
            <a:off x="4343400" y="1737360"/>
            <a:ext cx="3520440" cy="1234440"/>
          </a:xfrm>
          <a:prstGeom prst="roundRect">
            <a:avLst>
              <a:gd name="adj" fmla="val 4444"/>
            </a:avLst>
          </a:prstGeom>
          <a:solidFill>
            <a:srgbClr val="FFFFFF"/>
          </a:solidFill>
          <a:ln w="12700">
            <a:solidFill>
              <a:srgbClr val="D9D0E2"/>
            </a:solidFill>
            <a:prstDash val="solid"/>
          </a:ln>
        </p:spPr>
      </p:sp>
      <p:sp>
        <p:nvSpPr>
          <p:cNvPr id="9" name="Shape 7"/>
          <p:cNvSpPr/>
          <p:nvPr/>
        </p:nvSpPr>
        <p:spPr>
          <a:xfrm>
            <a:off x="4343400" y="1737360"/>
            <a:ext cx="3520440" cy="64008"/>
          </a:xfrm>
          <a:prstGeom prst="rect">
            <a:avLst/>
          </a:prstGeom>
          <a:solidFill>
            <a:srgbClr val="E0567A"/>
          </a:solidFill>
          <a:ln w="12700">
            <a:solidFill>
              <a:srgbClr val="E0567A"/>
            </a:solidFill>
            <a:prstDash val="solid"/>
          </a:ln>
        </p:spPr>
      </p:sp>
      <p:sp>
        <p:nvSpPr>
          <p:cNvPr id="10" name="Text 8"/>
          <p:cNvSpPr txBox="1"/>
          <p:nvPr/>
        </p:nvSpPr>
        <p:spPr>
          <a:xfrm>
            <a:off x="4489704" y="1920240"/>
            <a:ext cx="3227832" cy="566928"/>
          </a:xfrm>
          <a:prstGeom prst="rect">
            <a:avLst/>
          </a:prstGeom>
          <a:noFill/>
          <a:ln/>
        </p:spPr>
        <p:txBody>
          <a:bodyPr wrap="square" lIns="0" tIns="0" rIns="0" bIns="0" rtlCol="0" anchor="ctr"/>
          <a:lstStyle/>
          <a:p>
            <a:pPr marL="0" indent="0">
              <a:buNone/>
            </a:pPr>
            <a:r>
              <a:rPr lang="en-US" sz="2400" b="1" dirty="0">
                <a:solidFill>
                  <a:srgbClr val="1B1140"/>
                </a:solidFill>
                <a:latin typeface="Cambria" pitchFamily="34" charset="0"/>
                <a:ea typeface="Cambria" pitchFamily="34" charset="-122"/>
                <a:cs typeface="Cambria" pitchFamily="34" charset="-120"/>
              </a:rPr>
              <a:t>November</a:t>
            </a:r>
            <a:endParaRPr lang="en-US" sz="2400" dirty="0"/>
          </a:p>
        </p:txBody>
      </p:sp>
      <p:sp>
        <p:nvSpPr>
          <p:cNvPr id="11" name="Text 9"/>
          <p:cNvSpPr txBox="1"/>
          <p:nvPr/>
        </p:nvSpPr>
        <p:spPr>
          <a:xfrm>
            <a:off x="4489704" y="2505456"/>
            <a:ext cx="3227832" cy="338328"/>
          </a:xfrm>
          <a:prstGeom prst="rect">
            <a:avLst/>
          </a:prstGeom>
          <a:noFill/>
          <a:ln/>
        </p:spPr>
        <p:txBody>
          <a:bodyPr wrap="square" lIns="0" tIns="0" rIns="0" bIns="0" rtlCol="0" anchor="t"/>
          <a:lstStyle/>
          <a:p>
            <a:pPr marL="0" indent="0">
              <a:buNone/>
            </a:pPr>
            <a:r>
              <a:rPr lang="en-US" sz="1150" dirty="0">
                <a:solidFill>
                  <a:srgbClr val="4B4468"/>
                </a:solidFill>
                <a:latin typeface="Calibri" pitchFamily="34" charset="0"/>
                <a:ea typeface="Calibri" pitchFamily="34" charset="-122"/>
                <a:cs typeface="Calibri" pitchFamily="34" charset="-120"/>
              </a:rPr>
              <a:t>Lowest — Rs 16,15,356 from 2,383 orders</a:t>
            </a:r>
            <a:endParaRPr lang="en-US" sz="1150" dirty="0"/>
          </a:p>
        </p:txBody>
      </p:sp>
      <p:sp>
        <p:nvSpPr>
          <p:cNvPr id="12" name="Shape 10"/>
          <p:cNvSpPr/>
          <p:nvPr/>
        </p:nvSpPr>
        <p:spPr>
          <a:xfrm>
            <a:off x="8092440" y="1737360"/>
            <a:ext cx="3520440" cy="1234440"/>
          </a:xfrm>
          <a:prstGeom prst="roundRect">
            <a:avLst>
              <a:gd name="adj" fmla="val 4444"/>
            </a:avLst>
          </a:prstGeom>
          <a:solidFill>
            <a:srgbClr val="FFFFFF"/>
          </a:solidFill>
          <a:ln w="12700">
            <a:solidFill>
              <a:srgbClr val="D9D0E2"/>
            </a:solidFill>
            <a:prstDash val="solid"/>
          </a:ln>
        </p:spPr>
      </p:sp>
      <p:sp>
        <p:nvSpPr>
          <p:cNvPr id="13" name="Shape 11"/>
          <p:cNvSpPr/>
          <p:nvPr/>
        </p:nvSpPr>
        <p:spPr>
          <a:xfrm>
            <a:off x="8092440" y="1737360"/>
            <a:ext cx="3520440" cy="64008"/>
          </a:xfrm>
          <a:prstGeom prst="rect">
            <a:avLst/>
          </a:prstGeom>
          <a:solidFill>
            <a:srgbClr val="128C8A"/>
          </a:solidFill>
          <a:ln w="12700">
            <a:solidFill>
              <a:srgbClr val="128C8A"/>
            </a:solidFill>
            <a:prstDash val="solid"/>
          </a:ln>
        </p:spPr>
      </p:sp>
      <p:sp>
        <p:nvSpPr>
          <p:cNvPr id="14" name="Text 12"/>
          <p:cNvSpPr txBox="1"/>
          <p:nvPr/>
        </p:nvSpPr>
        <p:spPr>
          <a:xfrm>
            <a:off x="8238744" y="1920240"/>
            <a:ext cx="3227832" cy="566928"/>
          </a:xfrm>
          <a:prstGeom prst="rect">
            <a:avLst/>
          </a:prstGeom>
          <a:noFill/>
          <a:ln/>
        </p:spPr>
        <p:txBody>
          <a:bodyPr wrap="square" lIns="0" tIns="0" rIns="0" bIns="0" rtlCol="0" anchor="ctr"/>
          <a:lstStyle/>
          <a:p>
            <a:pPr marL="0" indent="0">
              <a:buNone/>
            </a:pPr>
            <a:r>
              <a:rPr lang="en-US" sz="2400" b="1" dirty="0">
                <a:solidFill>
                  <a:srgbClr val="1B1140"/>
                </a:solidFill>
                <a:latin typeface="Cambria" pitchFamily="34" charset="0"/>
                <a:ea typeface="Cambria" pitchFamily="34" charset="-122"/>
                <a:cs typeface="Cambria" pitchFamily="34" charset="-120"/>
              </a:rPr>
              <a:t>18%</a:t>
            </a:r>
            <a:endParaRPr lang="en-US" sz="2400" dirty="0"/>
          </a:p>
        </p:txBody>
      </p:sp>
      <p:sp>
        <p:nvSpPr>
          <p:cNvPr id="15" name="Text 13"/>
          <p:cNvSpPr txBox="1"/>
          <p:nvPr/>
        </p:nvSpPr>
        <p:spPr>
          <a:xfrm>
            <a:off x="8238744" y="2505456"/>
            <a:ext cx="3227832" cy="338328"/>
          </a:xfrm>
          <a:prstGeom prst="rect">
            <a:avLst/>
          </a:prstGeom>
          <a:noFill/>
          <a:ln/>
        </p:spPr>
        <p:txBody>
          <a:bodyPr wrap="square" lIns="0" tIns="0" rIns="0" bIns="0" rtlCol="0" anchor="t"/>
          <a:lstStyle/>
          <a:p>
            <a:pPr marL="0" indent="0">
              <a:buNone/>
            </a:pPr>
            <a:r>
              <a:rPr lang="en-US" sz="1150" dirty="0">
                <a:solidFill>
                  <a:srgbClr val="4B4468"/>
                </a:solidFill>
                <a:latin typeface="Calibri" pitchFamily="34" charset="0"/>
                <a:ea typeface="Calibri" pitchFamily="34" charset="-122"/>
                <a:cs typeface="Calibri" pitchFamily="34" charset="-120"/>
              </a:rPr>
              <a:t>Gap between the best and worst month</a:t>
            </a:r>
            <a:endParaRPr lang="en-US" sz="1150" dirty="0"/>
          </a:p>
        </p:txBody>
      </p:sp>
      <p:sp>
        <p:nvSpPr>
          <p:cNvPr id="16" name="Text 14"/>
          <p:cNvSpPr txBox="1"/>
          <p:nvPr/>
        </p:nvSpPr>
        <p:spPr>
          <a:xfrm>
            <a:off x="640080" y="3246120"/>
            <a:ext cx="10972800" cy="1920240"/>
          </a:xfrm>
          <a:prstGeom prst="rect">
            <a:avLst/>
          </a:prstGeom>
          <a:noFill/>
          <a:ln/>
        </p:spPr>
        <p:txBody>
          <a:bodyPr wrap="square" lIns="0" tIns="0" rIns="0" bIns="0" rtlCol="0" anchor="ctr"/>
          <a:lstStyle/>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The first half of the year is stronger. From January to April every month crossed Rs 18 lakh — this is festival and wedding shopping season, plus the end of the financial year.</a:t>
            </a:r>
            <a:endParaRPr lang="en-US" sz="1500" dirty="0"/>
          </a:p>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Sales slowly fall after March. From September to December every single month stayed below Rs 17 lakh.</a:t>
            </a:r>
            <a:endParaRPr lang="en-US" sz="1500" dirty="0"/>
          </a:p>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More orders means more money. The sales bars and the order line move together, so the store earns more by getting more customers — not by raising prices.</a:t>
            </a:r>
            <a:endParaRPr lang="en-US" sz="1500" dirty="0"/>
          </a:p>
        </p:txBody>
      </p:sp>
      <p:sp>
        <p:nvSpPr>
          <p:cNvPr id="17" name="Shape 15"/>
          <p:cNvSpPr/>
          <p:nvPr/>
        </p:nvSpPr>
        <p:spPr>
          <a:xfrm>
            <a:off x="566928" y="5321808"/>
            <a:ext cx="11064240" cy="621792"/>
          </a:xfrm>
          <a:prstGeom prst="roundRect">
            <a:avLst>
              <a:gd name="adj" fmla="val 5882"/>
            </a:avLst>
          </a:prstGeom>
          <a:solidFill>
            <a:srgbClr val="FBEBD4"/>
          </a:solidFill>
          <a:ln w="12700">
            <a:solidFill>
              <a:srgbClr val="F3A63B"/>
            </a:solidFill>
            <a:prstDash val="solid"/>
          </a:ln>
        </p:spPr>
      </p:sp>
      <p:sp>
        <p:nvSpPr>
          <p:cNvPr id="18" name="Shape 16"/>
          <p:cNvSpPr/>
          <p:nvPr/>
        </p:nvSpPr>
        <p:spPr>
          <a:xfrm>
            <a:off x="566928" y="5321808"/>
            <a:ext cx="64008" cy="621792"/>
          </a:xfrm>
          <a:prstGeom prst="rect">
            <a:avLst/>
          </a:prstGeom>
          <a:solidFill>
            <a:srgbClr val="F3A63B"/>
          </a:solidFill>
          <a:ln w="12700">
            <a:solidFill>
              <a:srgbClr val="333333"/>
            </a:solidFill>
            <a:prstDash val="solid"/>
          </a:ln>
        </p:spPr>
      </p:sp>
      <p:sp>
        <p:nvSpPr>
          <p:cNvPr id="19" name="Text 17"/>
          <p:cNvSpPr txBox="1"/>
          <p:nvPr/>
        </p:nvSpPr>
        <p:spPr>
          <a:xfrm>
            <a:off x="777240" y="5321808"/>
            <a:ext cx="10698480" cy="621792"/>
          </a:xfrm>
          <a:prstGeom prst="rect">
            <a:avLst/>
          </a:prstGeom>
          <a:noFill/>
          <a:ln/>
        </p:spPr>
        <p:txBody>
          <a:bodyPr wrap="square" lIns="0" tIns="0" rIns="0" bIns="0" rtlCol="0" anchor="ctr"/>
          <a:lstStyle/>
          <a:p>
            <a:pPr marL="0" indent="0">
              <a:buNone/>
            </a:pPr>
            <a:r>
              <a:rPr lang="en-US" sz="1350" dirty="0">
                <a:solidFill>
                  <a:srgbClr val="1B1140"/>
                </a:solidFill>
                <a:latin typeface="Calibri" pitchFamily="34" charset="0"/>
                <a:ea typeface="Calibri" pitchFamily="34" charset="-122"/>
                <a:cs typeface="Calibri" pitchFamily="34" charset="-120"/>
              </a:rPr>
              <a:t>Answer:  March 2026 got the highest sales (Rs 19,28,066) and the highest number of orders (2,819).</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Who purchases more — men or women?</a:t>
            </a:r>
            <a:endParaRPr lang="en-US" sz="3600" dirty="0"/>
          </a:p>
        </p:txBody>
      </p:sp>
      <p:graphicFrame>
        <p:nvGraphicFramePr>
          <p:cNvPr id="4" name="Chart 0"/>
          <p:cNvGraphicFramePr/>
          <p:nvPr/>
        </p:nvGraphicFramePr>
        <p:xfrm>
          <a:off x="566928" y="1719072"/>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89320" y="1783080"/>
            <a:ext cx="5623560" cy="1572768"/>
          </a:xfrm>
          <a:prstGeom prst="roundRect">
            <a:avLst>
              <a:gd name="adj" fmla="val 2907"/>
            </a:avLst>
          </a:prstGeom>
          <a:solidFill>
            <a:srgbClr val="FFFFFF"/>
          </a:solidFill>
          <a:ln w="12700">
            <a:solidFill>
              <a:srgbClr val="D9D0E2"/>
            </a:solidFill>
            <a:prstDash val="solid"/>
          </a:ln>
        </p:spPr>
      </p:sp>
      <p:sp>
        <p:nvSpPr>
          <p:cNvPr id="6" name="Text 3"/>
          <p:cNvSpPr txBox="1"/>
          <p:nvPr/>
        </p:nvSpPr>
        <p:spPr>
          <a:xfrm>
            <a:off x="6172200" y="1929384"/>
            <a:ext cx="525780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Women lead clearly</a:t>
            </a:r>
            <a:endParaRPr lang="en-US" sz="1450" dirty="0"/>
          </a:p>
        </p:txBody>
      </p:sp>
      <p:sp>
        <p:nvSpPr>
          <p:cNvPr id="7" name="Text 4"/>
          <p:cNvSpPr txBox="1"/>
          <p:nvPr/>
        </p:nvSpPr>
        <p:spPr>
          <a:xfrm>
            <a:off x="6172200" y="2276856"/>
            <a:ext cx="5257800" cy="93268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Women spent Rs 1,35,62,773 — about 64 paise of every rupee the store earned. Men spent Rs 76,13,604, which is about 36 per cent.</a:t>
            </a:r>
            <a:endParaRPr lang="en-US" sz="1200" dirty="0"/>
          </a:p>
        </p:txBody>
      </p:sp>
      <p:sp>
        <p:nvSpPr>
          <p:cNvPr id="8" name="Shape 5"/>
          <p:cNvSpPr/>
          <p:nvPr/>
        </p:nvSpPr>
        <p:spPr>
          <a:xfrm>
            <a:off x="5989320" y="3520440"/>
            <a:ext cx="5623560" cy="1572768"/>
          </a:xfrm>
          <a:prstGeom prst="roundRect">
            <a:avLst>
              <a:gd name="adj" fmla="val 2907"/>
            </a:avLst>
          </a:prstGeom>
          <a:solidFill>
            <a:srgbClr val="FFFFFF"/>
          </a:solidFill>
          <a:ln w="12700">
            <a:solidFill>
              <a:srgbClr val="D9D0E2"/>
            </a:solidFill>
            <a:prstDash val="solid"/>
          </a:ln>
        </p:spPr>
      </p:sp>
      <p:sp>
        <p:nvSpPr>
          <p:cNvPr id="9" name="Text 6"/>
          <p:cNvSpPr txBox="1"/>
          <p:nvPr/>
        </p:nvSpPr>
        <p:spPr>
          <a:xfrm>
            <a:off x="6172200" y="3666744"/>
            <a:ext cx="525780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The same story in order count</a:t>
            </a:r>
            <a:endParaRPr lang="en-US" sz="1450" dirty="0"/>
          </a:p>
        </p:txBody>
      </p:sp>
      <p:sp>
        <p:nvSpPr>
          <p:cNvPr id="10" name="Text 7"/>
          <p:cNvSpPr txBox="1"/>
          <p:nvPr/>
        </p:nvSpPr>
        <p:spPr>
          <a:xfrm>
            <a:off x="6172200" y="4014216"/>
            <a:ext cx="5257800" cy="93268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Women placed 21,553 orders and men placed 9,494. That means women order roughly twice as often as men do.</a:t>
            </a:r>
            <a:endParaRPr lang="en-US" sz="1200" dirty="0"/>
          </a:p>
        </p:txBody>
      </p:sp>
      <p:sp>
        <p:nvSpPr>
          <p:cNvPr id="11" name="Shape 8"/>
          <p:cNvSpPr/>
          <p:nvPr/>
        </p:nvSpPr>
        <p:spPr>
          <a:xfrm>
            <a:off x="566928" y="5413248"/>
            <a:ext cx="11064240" cy="621792"/>
          </a:xfrm>
          <a:prstGeom prst="roundRect">
            <a:avLst>
              <a:gd name="adj" fmla="val 5882"/>
            </a:avLst>
          </a:prstGeom>
          <a:solidFill>
            <a:srgbClr val="FBEBD4"/>
          </a:solidFill>
          <a:ln w="12700">
            <a:solidFill>
              <a:srgbClr val="F3A63B"/>
            </a:solidFill>
            <a:prstDash val="solid"/>
          </a:ln>
        </p:spPr>
      </p:sp>
      <p:sp>
        <p:nvSpPr>
          <p:cNvPr id="12" name="Shape 9"/>
          <p:cNvSpPr/>
          <p:nvPr/>
        </p:nvSpPr>
        <p:spPr>
          <a:xfrm>
            <a:off x="566928" y="5413248"/>
            <a:ext cx="64008" cy="621792"/>
          </a:xfrm>
          <a:prstGeom prst="rect">
            <a:avLst/>
          </a:prstGeom>
          <a:solidFill>
            <a:srgbClr val="F3A63B"/>
          </a:solidFill>
          <a:ln w="12700">
            <a:solidFill>
              <a:srgbClr val="333333"/>
            </a:solidFill>
            <a:prstDash val="solid"/>
          </a:ln>
        </p:spPr>
      </p:sp>
      <p:sp>
        <p:nvSpPr>
          <p:cNvPr id="13" name="Text 10"/>
          <p:cNvSpPr txBox="1"/>
          <p:nvPr/>
        </p:nvSpPr>
        <p:spPr>
          <a:xfrm>
            <a:off x="777240" y="5413248"/>
            <a:ext cx="10698480" cy="621792"/>
          </a:xfrm>
          <a:prstGeom prst="rect">
            <a:avLst/>
          </a:prstGeom>
          <a:noFill/>
          <a:ln/>
        </p:spPr>
        <p:txBody>
          <a:bodyPr wrap="square" lIns="0" tIns="0" rIns="0" bIns="0" rtlCol="0" anchor="ctr"/>
          <a:lstStyle/>
          <a:p>
            <a:pPr marL="0" indent="0">
              <a:buNone/>
            </a:pPr>
            <a:r>
              <a:rPr lang="en-US" sz="1350" dirty="0">
                <a:solidFill>
                  <a:srgbClr val="1B1140"/>
                </a:solidFill>
                <a:latin typeface="Calibri" pitchFamily="34" charset="0"/>
                <a:ea typeface="Calibri" pitchFamily="34" charset="-122"/>
                <a:cs typeface="Calibri" pitchFamily="34" charset="-120"/>
              </a:rPr>
              <a:t>Answer:  Women purchase far more than men — they bring 64% of the store’s total sales.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What happened to the orders?</a:t>
            </a:r>
            <a:endParaRPr lang="en-US" sz="3600" dirty="0"/>
          </a:p>
        </p:txBody>
      </p:sp>
      <p:graphicFrame>
        <p:nvGraphicFramePr>
          <p:cNvPr id="4" name="Chart 0"/>
          <p:cNvGraphicFramePr/>
          <p:nvPr/>
        </p:nvGraphicFramePr>
        <p:xfrm>
          <a:off x="566928" y="1719072"/>
          <a:ext cx="58521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629400" y="1965960"/>
            <a:ext cx="4983480" cy="2834640"/>
          </a:xfrm>
          <a:prstGeom prst="rect">
            <a:avLst/>
          </a:prstGeom>
          <a:noFill/>
          <a:ln/>
        </p:spPr>
        <p:txBody>
          <a:bodyPr wrap="square" lIns="0" tIns="0" rIns="0" bIns="0" rtlCol="0" anchor="ctr"/>
          <a:lstStyle/>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92% of orders reached the customer — a healthy delivery rate for an online store.</a:t>
            </a:r>
            <a:endParaRPr lang="en-US" sz="1500" dirty="0"/>
          </a:p>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2,406 orders did not succeed — returned, cancelled or refunded. That is about 8 out of every 100 orders, and it is lost money.</a:t>
            </a:r>
            <a:endParaRPr lang="en-US" sz="1500" dirty="0"/>
          </a:p>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Returns are the biggest of the three problems, usually caused by the wrong size or the product looking different from the photo.</a:t>
            </a:r>
            <a:endParaRPr lang="en-US" sz="1500" dirty="0"/>
          </a:p>
        </p:txBody>
      </p:sp>
      <p:sp>
        <p:nvSpPr>
          <p:cNvPr id="6" name="Shape 3"/>
          <p:cNvSpPr/>
          <p:nvPr/>
        </p:nvSpPr>
        <p:spPr>
          <a:xfrm>
            <a:off x="566928" y="5257800"/>
            <a:ext cx="11064240" cy="621792"/>
          </a:xfrm>
          <a:prstGeom prst="roundRect">
            <a:avLst>
              <a:gd name="adj" fmla="val 5882"/>
            </a:avLst>
          </a:prstGeom>
          <a:solidFill>
            <a:srgbClr val="FBEBD4"/>
          </a:solidFill>
          <a:ln w="12700">
            <a:solidFill>
              <a:srgbClr val="F3A63B"/>
            </a:solidFill>
            <a:prstDash val="solid"/>
          </a:ln>
        </p:spPr>
      </p:sp>
      <p:sp>
        <p:nvSpPr>
          <p:cNvPr id="7" name="Shape 4"/>
          <p:cNvSpPr/>
          <p:nvPr/>
        </p:nvSpPr>
        <p:spPr>
          <a:xfrm>
            <a:off x="566928" y="5257800"/>
            <a:ext cx="64008" cy="621792"/>
          </a:xfrm>
          <a:prstGeom prst="rect">
            <a:avLst/>
          </a:prstGeom>
          <a:solidFill>
            <a:srgbClr val="F3A63B"/>
          </a:solidFill>
          <a:ln w="12700">
            <a:solidFill>
              <a:srgbClr val="333333"/>
            </a:solidFill>
            <a:prstDash val="solid"/>
          </a:ln>
        </p:spPr>
      </p:sp>
      <p:sp>
        <p:nvSpPr>
          <p:cNvPr id="8" name="Text 5"/>
          <p:cNvSpPr txBox="1"/>
          <p:nvPr/>
        </p:nvSpPr>
        <p:spPr>
          <a:xfrm>
            <a:off x="777240" y="5257800"/>
            <a:ext cx="10698480" cy="621792"/>
          </a:xfrm>
          <a:prstGeom prst="rect">
            <a:avLst/>
          </a:prstGeom>
          <a:noFill/>
          <a:ln/>
        </p:spPr>
        <p:txBody>
          <a:bodyPr wrap="square" lIns="0" tIns="0" rIns="0" bIns="0" rtlCol="0" anchor="ctr"/>
          <a:lstStyle/>
          <a:p>
            <a:pPr marL="0" indent="0">
              <a:buNone/>
            </a:pPr>
            <a:r>
              <a:rPr lang="en-US" sz="1350" dirty="0">
                <a:solidFill>
                  <a:srgbClr val="1B1140"/>
                </a:solidFill>
                <a:latin typeface="Calibri" pitchFamily="34" charset="0"/>
                <a:ea typeface="Calibri" pitchFamily="34" charset="-122"/>
                <a:cs typeface="Calibri" pitchFamily="34" charset="-120"/>
              </a:rPr>
              <a:t>Answer:  There are four statuses — Delivered 28,641, Returned 1,045, Cancelled 844 and Refunded 517.</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Top 5 states by sales</a:t>
            </a:r>
            <a:endParaRPr lang="en-US" sz="3600" dirty="0"/>
          </a:p>
        </p:txBody>
      </p:sp>
      <p:graphicFrame>
        <p:nvGraphicFramePr>
          <p:cNvPr id="4" name="Chart 0"/>
          <p:cNvGraphicFramePr/>
          <p:nvPr/>
        </p:nvGraphicFramePr>
        <p:xfrm>
          <a:off x="566928" y="1719072"/>
          <a:ext cx="61264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903720" y="1965960"/>
            <a:ext cx="4709160" cy="2834640"/>
          </a:xfrm>
          <a:prstGeom prst="rect">
            <a:avLst/>
          </a:prstGeom>
          <a:noFill/>
          <a:ln/>
        </p:spPr>
        <p:txBody>
          <a:bodyPr wrap="square" lIns="0" tIns="0" rIns="0" bIns="0" rtlCol="0" anchor="ctr"/>
          <a:lstStyle/>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Maharashtra is number one with Rs 29,90,221, followed closely by Karnataka at Rs 26,46,358.</a:t>
            </a:r>
            <a:endParaRPr lang="en-US" sz="1500" dirty="0"/>
          </a:p>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These 5 states out of 50 bring in Rs 1.11 crore — more than half of all sales in the whole country.</a:t>
            </a:r>
            <a:endParaRPr lang="en-US" sz="1500" dirty="0"/>
          </a:p>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Big cities drive this. Mumbai, Bengaluru and Hyderabad have more online shoppers and faster delivery.</a:t>
            </a:r>
            <a:endParaRPr lang="en-US" sz="1500" dirty="0"/>
          </a:p>
        </p:txBody>
      </p:sp>
      <p:sp>
        <p:nvSpPr>
          <p:cNvPr id="6" name="Shape 3"/>
          <p:cNvSpPr/>
          <p:nvPr/>
        </p:nvSpPr>
        <p:spPr>
          <a:xfrm>
            <a:off x="566928" y="5257800"/>
            <a:ext cx="11064240" cy="621792"/>
          </a:xfrm>
          <a:prstGeom prst="roundRect">
            <a:avLst>
              <a:gd name="adj" fmla="val 5882"/>
            </a:avLst>
          </a:prstGeom>
          <a:solidFill>
            <a:srgbClr val="FBEBD4"/>
          </a:solidFill>
          <a:ln w="12700">
            <a:solidFill>
              <a:srgbClr val="F3A63B"/>
            </a:solidFill>
            <a:prstDash val="solid"/>
          </a:ln>
        </p:spPr>
      </p:sp>
      <p:sp>
        <p:nvSpPr>
          <p:cNvPr id="7" name="Shape 4"/>
          <p:cNvSpPr/>
          <p:nvPr/>
        </p:nvSpPr>
        <p:spPr>
          <a:xfrm>
            <a:off x="566928" y="5257800"/>
            <a:ext cx="64008" cy="621792"/>
          </a:xfrm>
          <a:prstGeom prst="rect">
            <a:avLst/>
          </a:prstGeom>
          <a:solidFill>
            <a:srgbClr val="F3A63B"/>
          </a:solidFill>
          <a:ln w="12700">
            <a:solidFill>
              <a:srgbClr val="333333"/>
            </a:solidFill>
            <a:prstDash val="solid"/>
          </a:ln>
        </p:spPr>
      </p:sp>
      <p:sp>
        <p:nvSpPr>
          <p:cNvPr id="8" name="Text 5"/>
          <p:cNvSpPr txBox="1"/>
          <p:nvPr/>
        </p:nvSpPr>
        <p:spPr>
          <a:xfrm>
            <a:off x="777240" y="5257800"/>
            <a:ext cx="10698480" cy="621792"/>
          </a:xfrm>
          <a:prstGeom prst="rect">
            <a:avLst/>
          </a:prstGeom>
          <a:noFill/>
          <a:ln/>
        </p:spPr>
        <p:txBody>
          <a:bodyPr wrap="square" lIns="0" tIns="0" rIns="0" bIns="0" rtlCol="0" anchor="ctr"/>
          <a:lstStyle/>
          <a:p>
            <a:pPr marL="0" indent="0">
              <a:buNone/>
            </a:pPr>
            <a:r>
              <a:rPr lang="en-US" sz="1350" dirty="0">
                <a:solidFill>
                  <a:srgbClr val="1B1140"/>
                </a:solidFill>
                <a:latin typeface="Calibri" pitchFamily="34" charset="0"/>
                <a:ea typeface="Calibri" pitchFamily="34" charset="-122"/>
                <a:cs typeface="Calibri" pitchFamily="34" charset="-120"/>
              </a:rPr>
              <a:t>Answer:  Maharashtra, Karnataka, Uttar Pradesh, Telangana and Tamil Nadu are the top 5 states.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Age and gender together</a:t>
            </a:r>
            <a:endParaRPr lang="en-US" sz="3600" dirty="0"/>
          </a:p>
        </p:txBody>
      </p:sp>
      <p:graphicFrame>
        <p:nvGraphicFramePr>
          <p:cNvPr id="4" name="Chart 0"/>
          <p:cNvGraphicFramePr/>
          <p:nvPr/>
        </p:nvGraphicFramePr>
        <p:xfrm>
          <a:off x="566928" y="1719072"/>
          <a:ext cx="66751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452360" y="2057400"/>
            <a:ext cx="4160520" cy="2743200"/>
          </a:xfrm>
          <a:prstGeom prst="rect">
            <a:avLst/>
          </a:prstGeom>
          <a:noFill/>
          <a:ln/>
        </p:spPr>
        <p:txBody>
          <a:bodyPr wrap="square" lIns="0" tIns="0" rIns="0" bIns="0" rtlCol="0" anchor="ctr"/>
          <a:lstStyle/>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Adult means roughly 30 to 49 years, teenager below 30, and senior 50 and above.</a:t>
            </a:r>
            <a:endParaRPr lang="en-US" sz="1500" dirty="0"/>
          </a:p>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Adult women alone place about 35% of all orders — the single biggest group.</a:t>
            </a:r>
            <a:endParaRPr lang="en-US" sz="1500" dirty="0"/>
          </a:p>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In every single age group, women order more than men.</a:t>
            </a:r>
            <a:endParaRPr lang="en-US" sz="1500" dirty="0"/>
          </a:p>
        </p:txBody>
      </p:sp>
      <p:sp>
        <p:nvSpPr>
          <p:cNvPr id="6" name="Shape 3"/>
          <p:cNvSpPr/>
          <p:nvPr/>
        </p:nvSpPr>
        <p:spPr>
          <a:xfrm>
            <a:off x="566928" y="5349240"/>
            <a:ext cx="11064240" cy="621792"/>
          </a:xfrm>
          <a:prstGeom prst="roundRect">
            <a:avLst>
              <a:gd name="adj" fmla="val 5882"/>
            </a:avLst>
          </a:prstGeom>
          <a:solidFill>
            <a:srgbClr val="FBEBD4"/>
          </a:solidFill>
          <a:ln w="12700">
            <a:solidFill>
              <a:srgbClr val="F3A63B"/>
            </a:solidFill>
            <a:prstDash val="solid"/>
          </a:ln>
        </p:spPr>
      </p:sp>
      <p:sp>
        <p:nvSpPr>
          <p:cNvPr id="7" name="Shape 4"/>
          <p:cNvSpPr/>
          <p:nvPr/>
        </p:nvSpPr>
        <p:spPr>
          <a:xfrm>
            <a:off x="566928" y="5349240"/>
            <a:ext cx="64008" cy="621792"/>
          </a:xfrm>
          <a:prstGeom prst="rect">
            <a:avLst/>
          </a:prstGeom>
          <a:solidFill>
            <a:srgbClr val="F3A63B"/>
          </a:solidFill>
          <a:ln w="12700">
            <a:solidFill>
              <a:srgbClr val="333333"/>
            </a:solidFill>
            <a:prstDash val="solid"/>
          </a:ln>
        </p:spPr>
      </p:sp>
      <p:sp>
        <p:nvSpPr>
          <p:cNvPr id="8" name="Text 5"/>
          <p:cNvSpPr txBox="1"/>
          <p:nvPr/>
        </p:nvSpPr>
        <p:spPr>
          <a:xfrm>
            <a:off x="777240" y="5349240"/>
            <a:ext cx="10698480" cy="621792"/>
          </a:xfrm>
          <a:prstGeom prst="rect">
            <a:avLst/>
          </a:prstGeom>
          <a:noFill/>
          <a:ln/>
        </p:spPr>
        <p:txBody>
          <a:bodyPr wrap="square" lIns="0" tIns="0" rIns="0" bIns="0" rtlCol="0" anchor="ctr"/>
          <a:lstStyle/>
          <a:p>
            <a:pPr marL="0" indent="0">
              <a:buNone/>
            </a:pPr>
            <a:r>
              <a:rPr lang="en-US" sz="1350" dirty="0">
                <a:solidFill>
                  <a:srgbClr val="1B1140"/>
                </a:solidFill>
                <a:latin typeface="Calibri" pitchFamily="34" charset="0"/>
                <a:ea typeface="Calibri" pitchFamily="34" charset="-122"/>
                <a:cs typeface="Calibri" pitchFamily="34" charset="-120"/>
              </a:rPr>
              <a:t>Answer:  Adult women are the biggest customer group, placing about 35% of all orders.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Which channel brings the most orders?</a:t>
            </a:r>
            <a:endParaRPr lang="en-US" sz="3600" dirty="0"/>
          </a:p>
        </p:txBody>
      </p:sp>
      <p:graphicFrame>
        <p:nvGraphicFramePr>
          <p:cNvPr id="4" name="Chart 0"/>
          <p:cNvGraphicFramePr/>
          <p:nvPr/>
        </p:nvGraphicFramePr>
        <p:xfrm>
          <a:off x="566928" y="1719072"/>
          <a:ext cx="548640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6355080" y="2057400"/>
            <a:ext cx="5257800" cy="2743200"/>
          </a:xfrm>
          <a:prstGeom prst="rect">
            <a:avLst/>
          </a:prstGeom>
          <a:noFill/>
          <a:ln/>
        </p:spPr>
        <p:txBody>
          <a:bodyPr wrap="square" lIns="0" tIns="0" rIns="0" bIns="0" rtlCol="0" anchor="ctr"/>
          <a:lstStyle/>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Amazon and Myntra together bring almost 59% of all orders. These two are the store’s lifeline.</a:t>
            </a:r>
            <a:endParaRPr lang="en-US" sz="1500" dirty="0"/>
          </a:p>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Flipkart adds another 22%, so the top three channels cover more than 80% of the business.</a:t>
            </a:r>
            <a:endParaRPr lang="en-US" sz="1500" dirty="0"/>
          </a:p>
          <a:p>
            <a:pPr marL="342900" indent="-342900">
              <a:lnSpc>
                <a:spcPts val="2200"/>
              </a:lnSpc>
              <a:spcAft>
                <a:spcPts val="900"/>
              </a:spcAft>
              <a:buSzPct val="100000"/>
              <a:buChar char="▪"/>
            </a:pPr>
            <a:r>
              <a:rPr lang="en-US" sz="1500" dirty="0">
                <a:solidFill>
                  <a:srgbClr val="4B4468"/>
                </a:solidFill>
                <a:latin typeface="Calibri" pitchFamily="34" charset="0"/>
                <a:ea typeface="Calibri" pitchFamily="34" charset="-122"/>
                <a:cs typeface="Calibri" pitchFamily="34" charset="-120"/>
              </a:rPr>
              <a:t>Ajio, Nalli, Meesho and the rest are small — each one under 7%.</a:t>
            </a:r>
            <a:endParaRPr lang="en-US" sz="1500" dirty="0"/>
          </a:p>
        </p:txBody>
      </p:sp>
      <p:sp>
        <p:nvSpPr>
          <p:cNvPr id="6" name="Shape 3"/>
          <p:cNvSpPr/>
          <p:nvPr/>
        </p:nvSpPr>
        <p:spPr>
          <a:xfrm>
            <a:off x="566928" y="5413248"/>
            <a:ext cx="11064240" cy="621792"/>
          </a:xfrm>
          <a:prstGeom prst="roundRect">
            <a:avLst>
              <a:gd name="adj" fmla="val 5882"/>
            </a:avLst>
          </a:prstGeom>
          <a:solidFill>
            <a:srgbClr val="FBEBD4"/>
          </a:solidFill>
          <a:ln w="12700">
            <a:solidFill>
              <a:srgbClr val="F3A63B"/>
            </a:solidFill>
            <a:prstDash val="solid"/>
          </a:ln>
        </p:spPr>
      </p:sp>
      <p:sp>
        <p:nvSpPr>
          <p:cNvPr id="7" name="Shape 4"/>
          <p:cNvSpPr/>
          <p:nvPr/>
        </p:nvSpPr>
        <p:spPr>
          <a:xfrm>
            <a:off x="566928" y="5413248"/>
            <a:ext cx="64008" cy="621792"/>
          </a:xfrm>
          <a:prstGeom prst="rect">
            <a:avLst/>
          </a:prstGeom>
          <a:solidFill>
            <a:srgbClr val="F3A63B"/>
          </a:solidFill>
          <a:ln w="12700">
            <a:solidFill>
              <a:srgbClr val="333333"/>
            </a:solidFill>
            <a:prstDash val="solid"/>
          </a:ln>
        </p:spPr>
      </p:sp>
      <p:sp>
        <p:nvSpPr>
          <p:cNvPr id="8" name="Text 5"/>
          <p:cNvSpPr txBox="1"/>
          <p:nvPr/>
        </p:nvSpPr>
        <p:spPr>
          <a:xfrm>
            <a:off x="777240" y="5413248"/>
            <a:ext cx="10698480" cy="621792"/>
          </a:xfrm>
          <a:prstGeom prst="rect">
            <a:avLst/>
          </a:prstGeom>
          <a:noFill/>
          <a:ln/>
        </p:spPr>
        <p:txBody>
          <a:bodyPr wrap="square" lIns="0" tIns="0" rIns="0" bIns="0" rtlCol="0" anchor="ctr"/>
          <a:lstStyle/>
          <a:p>
            <a:pPr marL="0" indent="0">
              <a:buNone/>
            </a:pPr>
            <a:r>
              <a:rPr lang="en-US" sz="1350" dirty="0">
                <a:solidFill>
                  <a:srgbClr val="1B1140"/>
                </a:solidFill>
                <a:latin typeface="Calibri" pitchFamily="34" charset="0"/>
                <a:ea typeface="Calibri" pitchFamily="34" charset="-122"/>
                <a:cs typeface="Calibri" pitchFamily="34" charset="-120"/>
              </a:rPr>
              <a:t>Answer:  Amazon is the biggest channel, bringing about 35% of all orders.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What people actually buy</a:t>
            </a:r>
            <a:endParaRPr lang="en-US" sz="3600" dirty="0"/>
          </a:p>
        </p:txBody>
      </p:sp>
      <p:graphicFrame>
        <p:nvGraphicFramePr>
          <p:cNvPr id="4" name="Chart 0"/>
          <p:cNvGraphicFramePr/>
          <p:nvPr/>
        </p:nvGraphicFramePr>
        <p:xfrm>
          <a:off x="566928" y="1719072"/>
          <a:ext cx="640080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178040" y="1828800"/>
            <a:ext cx="4434840" cy="1554480"/>
          </a:xfrm>
          <a:prstGeom prst="roundRect">
            <a:avLst>
              <a:gd name="adj" fmla="val 2941"/>
            </a:avLst>
          </a:prstGeom>
          <a:solidFill>
            <a:srgbClr val="FFFFFF"/>
          </a:solidFill>
          <a:ln w="12700">
            <a:solidFill>
              <a:srgbClr val="D9D0E2"/>
            </a:solidFill>
            <a:prstDash val="solid"/>
          </a:ln>
        </p:spPr>
      </p:sp>
      <p:sp>
        <p:nvSpPr>
          <p:cNvPr id="6" name="Text 3"/>
          <p:cNvSpPr txBox="1"/>
          <p:nvPr/>
        </p:nvSpPr>
        <p:spPr>
          <a:xfrm>
            <a:off x="7360920" y="1975104"/>
            <a:ext cx="40690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Sets are the hero product</a:t>
            </a:r>
            <a:endParaRPr lang="en-US" sz="1450" dirty="0"/>
          </a:p>
        </p:txBody>
      </p:sp>
      <p:sp>
        <p:nvSpPr>
          <p:cNvPr id="7" name="Text 4"/>
          <p:cNvSpPr txBox="1"/>
          <p:nvPr/>
        </p:nvSpPr>
        <p:spPr>
          <a:xfrm>
            <a:off x="7360920" y="2322576"/>
            <a:ext cx="4069080" cy="914400"/>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A Set (kurta with bottom or dupatta) earns Rs 1.05 crore — almost half of all sales — from 12,391 orders.</a:t>
            </a:r>
            <a:endParaRPr lang="en-US" sz="1200" dirty="0"/>
          </a:p>
        </p:txBody>
      </p:sp>
      <p:sp>
        <p:nvSpPr>
          <p:cNvPr id="8" name="Shape 5"/>
          <p:cNvSpPr/>
          <p:nvPr/>
        </p:nvSpPr>
        <p:spPr>
          <a:xfrm>
            <a:off x="7178040" y="3547872"/>
            <a:ext cx="4434840" cy="1554480"/>
          </a:xfrm>
          <a:prstGeom prst="roundRect">
            <a:avLst>
              <a:gd name="adj" fmla="val 2941"/>
            </a:avLst>
          </a:prstGeom>
          <a:solidFill>
            <a:srgbClr val="FFFFFF"/>
          </a:solidFill>
          <a:ln w="12700">
            <a:solidFill>
              <a:srgbClr val="D9D0E2"/>
            </a:solidFill>
            <a:prstDash val="solid"/>
          </a:ln>
        </p:spPr>
      </p:sp>
      <p:sp>
        <p:nvSpPr>
          <p:cNvPr id="9" name="Text 6"/>
          <p:cNvSpPr txBox="1"/>
          <p:nvPr/>
        </p:nvSpPr>
        <p:spPr>
          <a:xfrm>
            <a:off x="7360920" y="3694176"/>
            <a:ext cx="40690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Popular sizes</a:t>
            </a:r>
            <a:endParaRPr lang="en-US" sz="1450" dirty="0"/>
          </a:p>
        </p:txBody>
      </p:sp>
      <p:sp>
        <p:nvSpPr>
          <p:cNvPr id="10" name="Text 7"/>
          <p:cNvSpPr txBox="1"/>
          <p:nvPr/>
        </p:nvSpPr>
        <p:spPr>
          <a:xfrm>
            <a:off x="7360920" y="4041648"/>
            <a:ext cx="4069080" cy="914400"/>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M, L and XL are ordered most often. Keeping enough stock in these three sizes prevents lost sales.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140"/>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1140"/>
          </a:solidFill>
          <a:ln/>
        </p:spPr>
      </p:sp>
      <p:sp>
        <p:nvSpPr>
          <p:cNvPr id="3" name="Shape 1"/>
          <p:cNvSpPr/>
          <p:nvPr/>
        </p:nvSpPr>
        <p:spPr>
          <a:xfrm>
            <a:off x="-2011680" y="-2926080"/>
            <a:ext cx="7772400" cy="7772400"/>
          </a:xfrm>
          <a:prstGeom prst="ellipse">
            <a:avLst/>
          </a:prstGeom>
          <a:solidFill>
            <a:srgbClr val="3A2778">
              <a:alpha val="45000"/>
            </a:srgbClr>
          </a:solidFill>
          <a:ln/>
        </p:spPr>
      </p:sp>
      <p:sp>
        <p:nvSpPr>
          <p:cNvPr id="4" name="Shape 2"/>
          <p:cNvSpPr/>
          <p:nvPr/>
        </p:nvSpPr>
        <p:spPr>
          <a:xfrm>
            <a:off x="7863840" y="3291840"/>
            <a:ext cx="6949440" cy="6949440"/>
          </a:xfrm>
          <a:prstGeom prst="ellipse">
            <a:avLst/>
          </a:prstGeom>
          <a:solidFill>
            <a:srgbClr val="5A2350">
              <a:alpha val="50000"/>
            </a:srgbClr>
          </a:solidFill>
          <a:ln/>
        </p:spPr>
      </p:sp>
      <p:sp>
        <p:nvSpPr>
          <p:cNvPr id="6" name="Text 4"/>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Key findings</a:t>
            </a:r>
            <a:endParaRPr lang="en-US" sz="3600" dirty="0"/>
          </a:p>
        </p:txBody>
      </p:sp>
      <p:sp>
        <p:nvSpPr>
          <p:cNvPr id="7" name="Shape 5"/>
          <p:cNvSpPr/>
          <p:nvPr/>
        </p:nvSpPr>
        <p:spPr>
          <a:xfrm>
            <a:off x="594360" y="1691640"/>
            <a:ext cx="11018520" cy="548640"/>
          </a:xfrm>
          <a:prstGeom prst="roundRect">
            <a:avLst>
              <a:gd name="adj" fmla="val 6667"/>
            </a:avLst>
          </a:prstGeom>
          <a:solidFill>
            <a:srgbClr val="3A2778"/>
          </a:solidFill>
          <a:ln w="12700">
            <a:solidFill>
              <a:srgbClr val="6B5BA0"/>
            </a:solidFill>
            <a:prstDash val="solid"/>
          </a:ln>
        </p:spPr>
      </p:sp>
      <p:sp>
        <p:nvSpPr>
          <p:cNvPr id="8" name="Text 6"/>
          <p:cNvSpPr txBox="1"/>
          <p:nvPr/>
        </p:nvSpPr>
        <p:spPr>
          <a:xfrm>
            <a:off x="822960" y="1691640"/>
            <a:ext cx="2468880" cy="548640"/>
          </a:xfrm>
          <a:prstGeom prst="rect">
            <a:avLst/>
          </a:prstGeom>
          <a:noFill/>
          <a:ln/>
        </p:spPr>
        <p:txBody>
          <a:bodyPr wrap="square" lIns="0" tIns="0" rIns="0" bIns="0" rtlCol="0" anchor="ctr"/>
          <a:lstStyle/>
          <a:p>
            <a:pPr marL="0" indent="0">
              <a:buNone/>
            </a:pPr>
            <a:r>
              <a:rPr lang="en-US" sz="1350" b="1" dirty="0">
                <a:solidFill>
                  <a:srgbClr val="F3A63B"/>
                </a:solidFill>
                <a:latin typeface="Calibri" pitchFamily="34" charset="0"/>
                <a:ea typeface="Calibri" pitchFamily="34" charset="-122"/>
                <a:cs typeface="Calibri" pitchFamily="34" charset="-120"/>
              </a:rPr>
              <a:t>Best month</a:t>
            </a:r>
            <a:endParaRPr lang="en-US" sz="1350" dirty="0"/>
          </a:p>
        </p:txBody>
      </p:sp>
      <p:sp>
        <p:nvSpPr>
          <p:cNvPr id="9" name="Text 7"/>
          <p:cNvSpPr txBox="1"/>
          <p:nvPr/>
        </p:nvSpPr>
        <p:spPr>
          <a:xfrm>
            <a:off x="3383280" y="1691640"/>
            <a:ext cx="8046720" cy="5486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March — Rs 19.28 lakh from 2,819 orders</a:t>
            </a:r>
            <a:endParaRPr lang="en-US" sz="1350" dirty="0"/>
          </a:p>
        </p:txBody>
      </p:sp>
      <p:sp>
        <p:nvSpPr>
          <p:cNvPr id="10" name="Shape 8"/>
          <p:cNvSpPr/>
          <p:nvPr/>
        </p:nvSpPr>
        <p:spPr>
          <a:xfrm>
            <a:off x="594360" y="2350008"/>
            <a:ext cx="11018520" cy="548640"/>
          </a:xfrm>
          <a:prstGeom prst="roundRect">
            <a:avLst>
              <a:gd name="adj" fmla="val 6667"/>
            </a:avLst>
          </a:prstGeom>
          <a:solidFill>
            <a:srgbClr val="3A2778"/>
          </a:solidFill>
          <a:ln w="12700">
            <a:solidFill>
              <a:srgbClr val="6B5BA0"/>
            </a:solidFill>
            <a:prstDash val="solid"/>
          </a:ln>
        </p:spPr>
      </p:sp>
      <p:sp>
        <p:nvSpPr>
          <p:cNvPr id="11" name="Text 9"/>
          <p:cNvSpPr txBox="1"/>
          <p:nvPr/>
        </p:nvSpPr>
        <p:spPr>
          <a:xfrm>
            <a:off x="822960" y="2350008"/>
            <a:ext cx="2468880" cy="548640"/>
          </a:xfrm>
          <a:prstGeom prst="rect">
            <a:avLst/>
          </a:prstGeom>
          <a:noFill/>
          <a:ln/>
        </p:spPr>
        <p:txBody>
          <a:bodyPr wrap="square" lIns="0" tIns="0" rIns="0" bIns="0" rtlCol="0" anchor="ctr"/>
          <a:lstStyle/>
          <a:p>
            <a:pPr marL="0" indent="0">
              <a:buNone/>
            </a:pPr>
            <a:r>
              <a:rPr lang="en-US" sz="1350" b="1" dirty="0">
                <a:solidFill>
                  <a:srgbClr val="F3A63B"/>
                </a:solidFill>
                <a:latin typeface="Calibri" pitchFamily="34" charset="0"/>
                <a:ea typeface="Calibri" pitchFamily="34" charset="-122"/>
                <a:cs typeface="Calibri" pitchFamily="34" charset="-120"/>
              </a:rPr>
              <a:t>Main customer</a:t>
            </a:r>
            <a:endParaRPr lang="en-US" sz="1350" dirty="0"/>
          </a:p>
        </p:txBody>
      </p:sp>
      <p:sp>
        <p:nvSpPr>
          <p:cNvPr id="12" name="Text 10"/>
          <p:cNvSpPr txBox="1"/>
          <p:nvPr/>
        </p:nvSpPr>
        <p:spPr>
          <a:xfrm>
            <a:off x="3383280" y="2350008"/>
            <a:ext cx="8046720" cy="5486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An adult woman aged around 30 to 49</a:t>
            </a:r>
            <a:endParaRPr lang="en-US" sz="1350" dirty="0"/>
          </a:p>
        </p:txBody>
      </p:sp>
      <p:sp>
        <p:nvSpPr>
          <p:cNvPr id="13" name="Shape 11"/>
          <p:cNvSpPr/>
          <p:nvPr/>
        </p:nvSpPr>
        <p:spPr>
          <a:xfrm>
            <a:off x="594360" y="3008376"/>
            <a:ext cx="11018520" cy="548640"/>
          </a:xfrm>
          <a:prstGeom prst="roundRect">
            <a:avLst>
              <a:gd name="adj" fmla="val 6667"/>
            </a:avLst>
          </a:prstGeom>
          <a:solidFill>
            <a:srgbClr val="3A2778"/>
          </a:solidFill>
          <a:ln w="12700">
            <a:solidFill>
              <a:srgbClr val="6B5BA0"/>
            </a:solidFill>
            <a:prstDash val="solid"/>
          </a:ln>
        </p:spPr>
      </p:sp>
      <p:sp>
        <p:nvSpPr>
          <p:cNvPr id="14" name="Text 12"/>
          <p:cNvSpPr txBox="1"/>
          <p:nvPr/>
        </p:nvSpPr>
        <p:spPr>
          <a:xfrm>
            <a:off x="822960" y="3008376"/>
            <a:ext cx="2468880" cy="548640"/>
          </a:xfrm>
          <a:prstGeom prst="rect">
            <a:avLst/>
          </a:prstGeom>
          <a:noFill/>
          <a:ln/>
        </p:spPr>
        <p:txBody>
          <a:bodyPr wrap="square" lIns="0" tIns="0" rIns="0" bIns="0" rtlCol="0" anchor="ctr"/>
          <a:lstStyle/>
          <a:p>
            <a:pPr marL="0" indent="0">
              <a:buNone/>
            </a:pPr>
            <a:r>
              <a:rPr lang="en-US" sz="1350" b="1" dirty="0">
                <a:solidFill>
                  <a:srgbClr val="F3A63B"/>
                </a:solidFill>
                <a:latin typeface="Calibri" pitchFamily="34" charset="0"/>
                <a:ea typeface="Calibri" pitchFamily="34" charset="-122"/>
                <a:cs typeface="Calibri" pitchFamily="34" charset="-120"/>
              </a:rPr>
              <a:t>Gender split</a:t>
            </a:r>
            <a:endParaRPr lang="en-US" sz="1350" dirty="0"/>
          </a:p>
        </p:txBody>
      </p:sp>
      <p:sp>
        <p:nvSpPr>
          <p:cNvPr id="15" name="Text 13"/>
          <p:cNvSpPr txBox="1"/>
          <p:nvPr/>
        </p:nvSpPr>
        <p:spPr>
          <a:xfrm>
            <a:off x="3383280" y="3008376"/>
            <a:ext cx="8046720" cy="5486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Women bring 64% of sales, men bring 36%</a:t>
            </a:r>
            <a:endParaRPr lang="en-US" sz="1350" dirty="0"/>
          </a:p>
        </p:txBody>
      </p:sp>
      <p:sp>
        <p:nvSpPr>
          <p:cNvPr id="16" name="Shape 14"/>
          <p:cNvSpPr/>
          <p:nvPr/>
        </p:nvSpPr>
        <p:spPr>
          <a:xfrm>
            <a:off x="594360" y="3666744"/>
            <a:ext cx="11018520" cy="548640"/>
          </a:xfrm>
          <a:prstGeom prst="roundRect">
            <a:avLst>
              <a:gd name="adj" fmla="val 6667"/>
            </a:avLst>
          </a:prstGeom>
          <a:solidFill>
            <a:srgbClr val="3A2778"/>
          </a:solidFill>
          <a:ln w="12700">
            <a:solidFill>
              <a:srgbClr val="6B5BA0"/>
            </a:solidFill>
            <a:prstDash val="solid"/>
          </a:ln>
        </p:spPr>
      </p:sp>
      <p:sp>
        <p:nvSpPr>
          <p:cNvPr id="17" name="Text 15"/>
          <p:cNvSpPr txBox="1"/>
          <p:nvPr/>
        </p:nvSpPr>
        <p:spPr>
          <a:xfrm>
            <a:off x="822960" y="3666744"/>
            <a:ext cx="2468880" cy="548640"/>
          </a:xfrm>
          <a:prstGeom prst="rect">
            <a:avLst/>
          </a:prstGeom>
          <a:noFill/>
          <a:ln/>
        </p:spPr>
        <p:txBody>
          <a:bodyPr wrap="square" lIns="0" tIns="0" rIns="0" bIns="0" rtlCol="0" anchor="ctr"/>
          <a:lstStyle/>
          <a:p>
            <a:pPr marL="0" indent="0">
              <a:buNone/>
            </a:pPr>
            <a:r>
              <a:rPr lang="en-US" sz="1350" b="1" dirty="0">
                <a:solidFill>
                  <a:srgbClr val="F3A63B"/>
                </a:solidFill>
                <a:latin typeface="Calibri" pitchFamily="34" charset="0"/>
                <a:ea typeface="Calibri" pitchFamily="34" charset="-122"/>
                <a:cs typeface="Calibri" pitchFamily="34" charset="-120"/>
              </a:rPr>
              <a:t>Best states</a:t>
            </a:r>
            <a:endParaRPr lang="en-US" sz="1350" dirty="0"/>
          </a:p>
        </p:txBody>
      </p:sp>
      <p:sp>
        <p:nvSpPr>
          <p:cNvPr id="18" name="Text 16"/>
          <p:cNvSpPr txBox="1"/>
          <p:nvPr/>
        </p:nvSpPr>
        <p:spPr>
          <a:xfrm>
            <a:off x="3383280" y="3666744"/>
            <a:ext cx="8046720" cy="5486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Maharashtra and Karnataka lead; the top 5 give over half the revenue</a:t>
            </a:r>
            <a:endParaRPr lang="en-US" sz="1350" dirty="0"/>
          </a:p>
        </p:txBody>
      </p:sp>
      <p:sp>
        <p:nvSpPr>
          <p:cNvPr id="19" name="Shape 17"/>
          <p:cNvSpPr/>
          <p:nvPr/>
        </p:nvSpPr>
        <p:spPr>
          <a:xfrm>
            <a:off x="594360" y="4325112"/>
            <a:ext cx="11018520" cy="548640"/>
          </a:xfrm>
          <a:prstGeom prst="roundRect">
            <a:avLst>
              <a:gd name="adj" fmla="val 6667"/>
            </a:avLst>
          </a:prstGeom>
          <a:solidFill>
            <a:srgbClr val="3A2778"/>
          </a:solidFill>
          <a:ln w="12700">
            <a:solidFill>
              <a:srgbClr val="6B5BA0"/>
            </a:solidFill>
            <a:prstDash val="solid"/>
          </a:ln>
        </p:spPr>
      </p:sp>
      <p:sp>
        <p:nvSpPr>
          <p:cNvPr id="20" name="Text 18"/>
          <p:cNvSpPr txBox="1"/>
          <p:nvPr/>
        </p:nvSpPr>
        <p:spPr>
          <a:xfrm>
            <a:off x="822960" y="4325112"/>
            <a:ext cx="2468880" cy="548640"/>
          </a:xfrm>
          <a:prstGeom prst="rect">
            <a:avLst/>
          </a:prstGeom>
          <a:noFill/>
          <a:ln/>
        </p:spPr>
        <p:txBody>
          <a:bodyPr wrap="square" lIns="0" tIns="0" rIns="0" bIns="0" rtlCol="0" anchor="ctr"/>
          <a:lstStyle/>
          <a:p>
            <a:pPr marL="0" indent="0">
              <a:buNone/>
            </a:pPr>
            <a:r>
              <a:rPr lang="en-US" sz="1350" b="1" dirty="0">
                <a:solidFill>
                  <a:srgbClr val="F3A63B"/>
                </a:solidFill>
                <a:latin typeface="Calibri" pitchFamily="34" charset="0"/>
                <a:ea typeface="Calibri" pitchFamily="34" charset="-122"/>
                <a:cs typeface="Calibri" pitchFamily="34" charset="-120"/>
              </a:rPr>
              <a:t>Best channel</a:t>
            </a:r>
            <a:endParaRPr lang="en-US" sz="1350" dirty="0"/>
          </a:p>
        </p:txBody>
      </p:sp>
      <p:sp>
        <p:nvSpPr>
          <p:cNvPr id="21" name="Text 19"/>
          <p:cNvSpPr txBox="1"/>
          <p:nvPr/>
        </p:nvSpPr>
        <p:spPr>
          <a:xfrm>
            <a:off x="3383280" y="4325112"/>
            <a:ext cx="8046720" cy="5486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Amazon 35%, then Myntra 23% and Flipkart 22%</a:t>
            </a:r>
            <a:endParaRPr lang="en-US" sz="1350" dirty="0"/>
          </a:p>
        </p:txBody>
      </p:sp>
      <p:sp>
        <p:nvSpPr>
          <p:cNvPr id="22" name="Shape 20"/>
          <p:cNvSpPr/>
          <p:nvPr/>
        </p:nvSpPr>
        <p:spPr>
          <a:xfrm>
            <a:off x="594360" y="4983480"/>
            <a:ext cx="11018520" cy="548640"/>
          </a:xfrm>
          <a:prstGeom prst="roundRect">
            <a:avLst>
              <a:gd name="adj" fmla="val 6667"/>
            </a:avLst>
          </a:prstGeom>
          <a:solidFill>
            <a:srgbClr val="3A2778"/>
          </a:solidFill>
          <a:ln w="12700">
            <a:solidFill>
              <a:srgbClr val="6B5BA0"/>
            </a:solidFill>
            <a:prstDash val="solid"/>
          </a:ln>
        </p:spPr>
      </p:sp>
      <p:sp>
        <p:nvSpPr>
          <p:cNvPr id="23" name="Text 21"/>
          <p:cNvSpPr txBox="1"/>
          <p:nvPr/>
        </p:nvSpPr>
        <p:spPr>
          <a:xfrm>
            <a:off x="822960" y="4983480"/>
            <a:ext cx="2468880" cy="548640"/>
          </a:xfrm>
          <a:prstGeom prst="rect">
            <a:avLst/>
          </a:prstGeom>
          <a:noFill/>
          <a:ln/>
        </p:spPr>
        <p:txBody>
          <a:bodyPr wrap="square" lIns="0" tIns="0" rIns="0" bIns="0" rtlCol="0" anchor="ctr"/>
          <a:lstStyle/>
          <a:p>
            <a:pPr marL="0" indent="0">
              <a:buNone/>
            </a:pPr>
            <a:r>
              <a:rPr lang="en-US" sz="1350" b="1" dirty="0">
                <a:solidFill>
                  <a:srgbClr val="F3A63B"/>
                </a:solidFill>
                <a:latin typeface="Calibri" pitchFamily="34" charset="0"/>
                <a:ea typeface="Calibri" pitchFamily="34" charset="-122"/>
                <a:cs typeface="Calibri" pitchFamily="34" charset="-120"/>
              </a:rPr>
              <a:t>Best product</a:t>
            </a:r>
            <a:endParaRPr lang="en-US" sz="1350" dirty="0"/>
          </a:p>
        </p:txBody>
      </p:sp>
      <p:sp>
        <p:nvSpPr>
          <p:cNvPr id="24" name="Text 22"/>
          <p:cNvSpPr txBox="1"/>
          <p:nvPr/>
        </p:nvSpPr>
        <p:spPr>
          <a:xfrm>
            <a:off x="3383280" y="4983480"/>
            <a:ext cx="8046720" cy="5486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Sets — nearly half of all money earned</a:t>
            </a:r>
            <a:endParaRPr lang="en-US" sz="1350" dirty="0"/>
          </a:p>
        </p:txBody>
      </p:sp>
      <p:sp>
        <p:nvSpPr>
          <p:cNvPr id="25" name="Shape 23"/>
          <p:cNvSpPr/>
          <p:nvPr/>
        </p:nvSpPr>
        <p:spPr>
          <a:xfrm>
            <a:off x="594360" y="5641848"/>
            <a:ext cx="11018520" cy="548640"/>
          </a:xfrm>
          <a:prstGeom prst="roundRect">
            <a:avLst>
              <a:gd name="adj" fmla="val 6667"/>
            </a:avLst>
          </a:prstGeom>
          <a:solidFill>
            <a:srgbClr val="3A2778"/>
          </a:solidFill>
          <a:ln w="12700">
            <a:solidFill>
              <a:srgbClr val="6B5BA0"/>
            </a:solidFill>
            <a:prstDash val="solid"/>
          </a:ln>
        </p:spPr>
      </p:sp>
      <p:sp>
        <p:nvSpPr>
          <p:cNvPr id="26" name="Text 24"/>
          <p:cNvSpPr txBox="1"/>
          <p:nvPr/>
        </p:nvSpPr>
        <p:spPr>
          <a:xfrm>
            <a:off x="822960" y="5641848"/>
            <a:ext cx="2468880" cy="548640"/>
          </a:xfrm>
          <a:prstGeom prst="rect">
            <a:avLst/>
          </a:prstGeom>
          <a:noFill/>
          <a:ln/>
        </p:spPr>
        <p:txBody>
          <a:bodyPr wrap="square" lIns="0" tIns="0" rIns="0" bIns="0" rtlCol="0" anchor="ctr"/>
          <a:lstStyle/>
          <a:p>
            <a:pPr marL="0" indent="0">
              <a:buNone/>
            </a:pPr>
            <a:r>
              <a:rPr lang="en-US" sz="1350" b="1" dirty="0">
                <a:solidFill>
                  <a:srgbClr val="F3A63B"/>
                </a:solidFill>
                <a:latin typeface="Calibri" pitchFamily="34" charset="0"/>
                <a:ea typeface="Calibri" pitchFamily="34" charset="-122"/>
                <a:cs typeface="Calibri" pitchFamily="34" charset="-120"/>
              </a:rPr>
              <a:t>Weak point</a:t>
            </a:r>
            <a:endParaRPr lang="en-US" sz="1350" dirty="0"/>
          </a:p>
        </p:txBody>
      </p:sp>
      <p:sp>
        <p:nvSpPr>
          <p:cNvPr id="27" name="Text 25"/>
          <p:cNvSpPr txBox="1"/>
          <p:nvPr/>
        </p:nvSpPr>
        <p:spPr>
          <a:xfrm>
            <a:off x="3383280" y="5641848"/>
            <a:ext cx="8046720" cy="54864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8% of orders fail as returns, cancellations or refunds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Recommendations for 2027</a:t>
            </a:r>
            <a:endParaRPr lang="en-US" sz="3600" dirty="0"/>
          </a:p>
        </p:txBody>
      </p:sp>
      <p:sp>
        <p:nvSpPr>
          <p:cNvPr id="4" name="Shape 2"/>
          <p:cNvSpPr/>
          <p:nvPr/>
        </p:nvSpPr>
        <p:spPr>
          <a:xfrm>
            <a:off x="594360" y="1719072"/>
            <a:ext cx="3520440" cy="2121408"/>
          </a:xfrm>
          <a:prstGeom prst="roundRect">
            <a:avLst>
              <a:gd name="adj" fmla="val 2155"/>
            </a:avLst>
          </a:prstGeom>
          <a:solidFill>
            <a:srgbClr val="FFFFFF"/>
          </a:solidFill>
          <a:ln w="12700">
            <a:solidFill>
              <a:srgbClr val="D9D0E2"/>
            </a:solidFill>
            <a:prstDash val="solid"/>
          </a:ln>
        </p:spPr>
      </p:sp>
      <p:sp>
        <p:nvSpPr>
          <p:cNvPr id="5" name="Text 3"/>
          <p:cNvSpPr txBox="1"/>
          <p:nvPr/>
        </p:nvSpPr>
        <p:spPr>
          <a:xfrm>
            <a:off x="777240" y="1865376"/>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Target adult women first</a:t>
            </a:r>
            <a:endParaRPr lang="en-US" sz="1450" dirty="0"/>
          </a:p>
        </p:txBody>
      </p:sp>
      <p:sp>
        <p:nvSpPr>
          <p:cNvPr id="6" name="Text 4"/>
          <p:cNvSpPr txBox="1"/>
          <p:nvPr/>
        </p:nvSpPr>
        <p:spPr>
          <a:xfrm>
            <a:off x="777240" y="2212848"/>
            <a:ext cx="3154680" cy="148132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Design ads, offers and new products for women aged 30 to 49 in Maharashtra, Karnataka and Uttar Pradesh. This group already gives the most money, so each rupee spent here returns more.</a:t>
            </a:r>
            <a:endParaRPr lang="en-US" sz="1200" dirty="0"/>
          </a:p>
        </p:txBody>
      </p:sp>
      <p:sp>
        <p:nvSpPr>
          <p:cNvPr id="7" name="Shape 5"/>
          <p:cNvSpPr/>
          <p:nvPr/>
        </p:nvSpPr>
        <p:spPr>
          <a:xfrm>
            <a:off x="4288536" y="1719072"/>
            <a:ext cx="3520440" cy="2121408"/>
          </a:xfrm>
          <a:prstGeom prst="roundRect">
            <a:avLst>
              <a:gd name="adj" fmla="val 2155"/>
            </a:avLst>
          </a:prstGeom>
          <a:solidFill>
            <a:srgbClr val="FFFFFF"/>
          </a:solidFill>
          <a:ln w="12700">
            <a:solidFill>
              <a:srgbClr val="D9D0E2"/>
            </a:solidFill>
            <a:prstDash val="solid"/>
          </a:ln>
        </p:spPr>
      </p:sp>
      <p:sp>
        <p:nvSpPr>
          <p:cNvPr id="8" name="Text 6"/>
          <p:cNvSpPr txBox="1"/>
          <p:nvPr/>
        </p:nvSpPr>
        <p:spPr>
          <a:xfrm>
            <a:off x="4471416" y="1865376"/>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Push harder on Amazon and Myntra</a:t>
            </a:r>
            <a:endParaRPr lang="en-US" sz="1450" dirty="0"/>
          </a:p>
        </p:txBody>
      </p:sp>
      <p:sp>
        <p:nvSpPr>
          <p:cNvPr id="9" name="Text 7"/>
          <p:cNvSpPr txBox="1"/>
          <p:nvPr/>
        </p:nvSpPr>
        <p:spPr>
          <a:xfrm>
            <a:off x="4471416" y="2212848"/>
            <a:ext cx="3154680" cy="148132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Keep stock full and ratings high on these two websites. A small improvement here affects 59% of all orders.</a:t>
            </a:r>
            <a:endParaRPr lang="en-US" sz="1200" dirty="0"/>
          </a:p>
        </p:txBody>
      </p:sp>
      <p:sp>
        <p:nvSpPr>
          <p:cNvPr id="10" name="Shape 8"/>
          <p:cNvSpPr/>
          <p:nvPr/>
        </p:nvSpPr>
        <p:spPr>
          <a:xfrm>
            <a:off x="7982712" y="1719072"/>
            <a:ext cx="3520440" cy="2121408"/>
          </a:xfrm>
          <a:prstGeom prst="roundRect">
            <a:avLst>
              <a:gd name="adj" fmla="val 2155"/>
            </a:avLst>
          </a:prstGeom>
          <a:solidFill>
            <a:srgbClr val="FFFFFF"/>
          </a:solidFill>
          <a:ln w="12700">
            <a:solidFill>
              <a:srgbClr val="D9D0E2"/>
            </a:solidFill>
            <a:prstDash val="solid"/>
          </a:ln>
        </p:spPr>
      </p:sp>
      <p:sp>
        <p:nvSpPr>
          <p:cNvPr id="11" name="Text 9"/>
          <p:cNvSpPr txBox="1"/>
          <p:nvPr/>
        </p:nvSpPr>
        <p:spPr>
          <a:xfrm>
            <a:off x="8165592" y="1865376"/>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Fix the size problem</a:t>
            </a:r>
            <a:endParaRPr lang="en-US" sz="1450" dirty="0"/>
          </a:p>
        </p:txBody>
      </p:sp>
      <p:sp>
        <p:nvSpPr>
          <p:cNvPr id="12" name="Text 10"/>
          <p:cNvSpPr txBox="1"/>
          <p:nvPr/>
        </p:nvSpPr>
        <p:spPr>
          <a:xfrm>
            <a:off x="8165592" y="2212848"/>
            <a:ext cx="3154680" cy="148132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Add a clear size chart and real measurement photos. Most clothing returns happen because of size, so this directly saves the 3.4% lost to returns.</a:t>
            </a:r>
            <a:endParaRPr lang="en-US" sz="1200" dirty="0"/>
          </a:p>
        </p:txBody>
      </p:sp>
      <p:sp>
        <p:nvSpPr>
          <p:cNvPr id="13" name="Shape 11"/>
          <p:cNvSpPr/>
          <p:nvPr/>
        </p:nvSpPr>
        <p:spPr>
          <a:xfrm>
            <a:off x="594360" y="4050792"/>
            <a:ext cx="3520440" cy="2121408"/>
          </a:xfrm>
          <a:prstGeom prst="roundRect">
            <a:avLst>
              <a:gd name="adj" fmla="val 2155"/>
            </a:avLst>
          </a:prstGeom>
          <a:solidFill>
            <a:srgbClr val="FFFFFF"/>
          </a:solidFill>
          <a:ln w="12700">
            <a:solidFill>
              <a:srgbClr val="D9D0E2"/>
            </a:solidFill>
            <a:prstDash val="solid"/>
          </a:ln>
        </p:spPr>
      </p:sp>
      <p:sp>
        <p:nvSpPr>
          <p:cNvPr id="14" name="Text 12"/>
          <p:cNvSpPr txBox="1"/>
          <p:nvPr/>
        </p:nvSpPr>
        <p:spPr>
          <a:xfrm>
            <a:off x="777240" y="4197096"/>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Stock more Sets</a:t>
            </a:r>
            <a:endParaRPr lang="en-US" sz="1450" dirty="0"/>
          </a:p>
        </p:txBody>
      </p:sp>
      <p:sp>
        <p:nvSpPr>
          <p:cNvPr id="15" name="Text 13"/>
          <p:cNvSpPr txBox="1"/>
          <p:nvPr/>
        </p:nvSpPr>
        <p:spPr>
          <a:xfrm>
            <a:off x="777240" y="4544568"/>
            <a:ext cx="3154680" cy="148132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Sets earn almost half the revenue. Add more designs in Sets, especially in sizes M, L and XL.</a:t>
            </a:r>
            <a:endParaRPr lang="en-US" sz="1200" dirty="0"/>
          </a:p>
        </p:txBody>
      </p:sp>
      <p:sp>
        <p:nvSpPr>
          <p:cNvPr id="16" name="Shape 14"/>
          <p:cNvSpPr/>
          <p:nvPr/>
        </p:nvSpPr>
        <p:spPr>
          <a:xfrm>
            <a:off x="4288536" y="4050792"/>
            <a:ext cx="3520440" cy="2121408"/>
          </a:xfrm>
          <a:prstGeom prst="roundRect">
            <a:avLst>
              <a:gd name="adj" fmla="val 2155"/>
            </a:avLst>
          </a:prstGeom>
          <a:solidFill>
            <a:srgbClr val="FFFFFF"/>
          </a:solidFill>
          <a:ln w="12700">
            <a:solidFill>
              <a:srgbClr val="D9D0E2"/>
            </a:solidFill>
            <a:prstDash val="solid"/>
          </a:ln>
        </p:spPr>
      </p:sp>
      <p:sp>
        <p:nvSpPr>
          <p:cNvPr id="17" name="Text 15"/>
          <p:cNvSpPr txBox="1"/>
          <p:nvPr/>
        </p:nvSpPr>
        <p:spPr>
          <a:xfrm>
            <a:off x="4471416" y="4197096"/>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Repeat the March plan</a:t>
            </a:r>
            <a:endParaRPr lang="en-US" sz="1450" dirty="0"/>
          </a:p>
        </p:txBody>
      </p:sp>
      <p:sp>
        <p:nvSpPr>
          <p:cNvPr id="18" name="Text 16"/>
          <p:cNvSpPr txBox="1"/>
          <p:nvPr/>
        </p:nvSpPr>
        <p:spPr>
          <a:xfrm>
            <a:off x="4471416" y="4544568"/>
            <a:ext cx="3154680" cy="148132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Study which discounts and products worked in January to March and run the same plan again, plus a festive offer to lift the weak October to December months.</a:t>
            </a:r>
            <a:endParaRPr lang="en-US" sz="1200" dirty="0"/>
          </a:p>
        </p:txBody>
      </p:sp>
      <p:sp>
        <p:nvSpPr>
          <p:cNvPr id="19" name="Shape 17"/>
          <p:cNvSpPr/>
          <p:nvPr/>
        </p:nvSpPr>
        <p:spPr>
          <a:xfrm>
            <a:off x="7982712" y="4050792"/>
            <a:ext cx="3520440" cy="2121408"/>
          </a:xfrm>
          <a:prstGeom prst="roundRect">
            <a:avLst>
              <a:gd name="adj" fmla="val 2155"/>
            </a:avLst>
          </a:prstGeom>
          <a:solidFill>
            <a:srgbClr val="FFFFFF"/>
          </a:solidFill>
          <a:ln w="12700">
            <a:solidFill>
              <a:srgbClr val="D9D0E2"/>
            </a:solidFill>
            <a:prstDash val="solid"/>
          </a:ln>
        </p:spPr>
      </p:sp>
      <p:sp>
        <p:nvSpPr>
          <p:cNvPr id="20" name="Text 18"/>
          <p:cNvSpPr txBox="1"/>
          <p:nvPr/>
        </p:nvSpPr>
        <p:spPr>
          <a:xfrm>
            <a:off x="8165592" y="4197096"/>
            <a:ext cx="315468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Grow the smaller channels</a:t>
            </a:r>
            <a:endParaRPr lang="en-US" sz="1450" dirty="0"/>
          </a:p>
        </p:txBody>
      </p:sp>
      <p:sp>
        <p:nvSpPr>
          <p:cNvPr id="21" name="Text 19"/>
          <p:cNvSpPr txBox="1"/>
          <p:nvPr/>
        </p:nvSpPr>
        <p:spPr>
          <a:xfrm>
            <a:off x="8165592" y="4544568"/>
            <a:ext cx="3154680" cy="1481328"/>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Flipkart and Ajio still have room to grow. Depending only on Amazon is risky if its fees or rules change.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2F7"/>
        </a:solidFill>
        <a:effectLst/>
      </p:bgPr>
    </p:bg>
    <p:spTree>
      <p:nvGrpSpPr>
        <p:cNvPr id="1" name=""/>
        <p:cNvGrpSpPr/>
        <p:nvPr/>
      </p:nvGrpSpPr>
      <p:grpSpPr>
        <a:xfrm>
          <a:off x="0" y="0"/>
          <a:ext cx="0" cy="0"/>
          <a:chOff x="0" y="0"/>
          <a:chExt cx="0" cy="0"/>
        </a:xfrm>
      </p:grpSpPr>
      <p:sp>
        <p:nvSpPr>
          <p:cNvPr id="3" name="Text 1"/>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1B1140"/>
                </a:solidFill>
                <a:latin typeface="Cambria" pitchFamily="34" charset="0"/>
                <a:ea typeface="Cambria" pitchFamily="34" charset="-122"/>
                <a:cs typeface="Cambria" pitchFamily="34" charset="-120"/>
              </a:rPr>
              <a:t>Limitations and what I learned</a:t>
            </a:r>
            <a:endParaRPr lang="en-US" sz="3600" dirty="0"/>
          </a:p>
        </p:txBody>
      </p:sp>
      <p:sp>
        <p:nvSpPr>
          <p:cNvPr id="4" name="Shape 2"/>
          <p:cNvSpPr/>
          <p:nvPr/>
        </p:nvSpPr>
        <p:spPr>
          <a:xfrm>
            <a:off x="594360" y="1783080"/>
            <a:ext cx="5440680" cy="2468880"/>
          </a:xfrm>
          <a:prstGeom prst="roundRect">
            <a:avLst>
              <a:gd name="adj" fmla="val 1852"/>
            </a:avLst>
          </a:prstGeom>
          <a:solidFill>
            <a:srgbClr val="FFFFFF"/>
          </a:solidFill>
          <a:ln w="12700">
            <a:solidFill>
              <a:srgbClr val="D9D0E2"/>
            </a:solidFill>
            <a:prstDash val="solid"/>
          </a:ln>
        </p:spPr>
      </p:sp>
      <p:sp>
        <p:nvSpPr>
          <p:cNvPr id="5" name="Text 3"/>
          <p:cNvSpPr txBox="1"/>
          <p:nvPr/>
        </p:nvSpPr>
        <p:spPr>
          <a:xfrm>
            <a:off x="777240" y="1929384"/>
            <a:ext cx="507492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Limitations of this study</a:t>
            </a:r>
            <a:endParaRPr lang="en-US" sz="1450" dirty="0"/>
          </a:p>
        </p:txBody>
      </p:sp>
      <p:sp>
        <p:nvSpPr>
          <p:cNvPr id="6" name="Text 4"/>
          <p:cNvSpPr txBox="1"/>
          <p:nvPr/>
        </p:nvSpPr>
        <p:spPr>
          <a:xfrm>
            <a:off x="777240" y="2276856"/>
            <a:ext cx="5074920" cy="1828800"/>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The data covers only one year, so growth cannot be compared with 2025. It also has no cost or profit column — so I can measure sales, but not profit. And it records only completed website orders, not the customers who browsed the site and left without buying.</a:t>
            </a:r>
            <a:endParaRPr lang="en-US" sz="1200" dirty="0"/>
          </a:p>
        </p:txBody>
      </p:sp>
      <p:sp>
        <p:nvSpPr>
          <p:cNvPr id="7" name="Shape 5"/>
          <p:cNvSpPr/>
          <p:nvPr/>
        </p:nvSpPr>
        <p:spPr>
          <a:xfrm>
            <a:off x="6217920" y="1783080"/>
            <a:ext cx="5394960" cy="2468880"/>
          </a:xfrm>
          <a:prstGeom prst="roundRect">
            <a:avLst>
              <a:gd name="adj" fmla="val 1852"/>
            </a:avLst>
          </a:prstGeom>
          <a:solidFill>
            <a:srgbClr val="FFFFFF"/>
          </a:solidFill>
          <a:ln w="12700">
            <a:solidFill>
              <a:srgbClr val="D9D0E2"/>
            </a:solidFill>
            <a:prstDash val="solid"/>
          </a:ln>
        </p:spPr>
      </p:sp>
      <p:sp>
        <p:nvSpPr>
          <p:cNvPr id="8" name="Text 6"/>
          <p:cNvSpPr txBox="1"/>
          <p:nvPr/>
        </p:nvSpPr>
        <p:spPr>
          <a:xfrm>
            <a:off x="6400800" y="1929384"/>
            <a:ext cx="5029200" cy="310896"/>
          </a:xfrm>
          <a:prstGeom prst="rect">
            <a:avLst/>
          </a:prstGeom>
          <a:noFill/>
          <a:ln/>
        </p:spPr>
        <p:txBody>
          <a:bodyPr wrap="square" lIns="0" tIns="0" rIns="0" bIns="0" rtlCol="0" anchor="ctr"/>
          <a:lstStyle/>
          <a:p>
            <a:pPr marL="0" indent="0">
              <a:buNone/>
            </a:pPr>
            <a:r>
              <a:rPr lang="en-US" sz="1450" b="1" dirty="0">
                <a:solidFill>
                  <a:srgbClr val="5A2350"/>
                </a:solidFill>
                <a:latin typeface="Cambria" pitchFamily="34" charset="0"/>
                <a:ea typeface="Cambria" pitchFamily="34" charset="-122"/>
                <a:cs typeface="Cambria" pitchFamily="34" charset="-120"/>
              </a:rPr>
              <a:t>What I learned</a:t>
            </a:r>
            <a:endParaRPr lang="en-US" sz="1450" dirty="0"/>
          </a:p>
        </p:txBody>
      </p:sp>
      <p:sp>
        <p:nvSpPr>
          <p:cNvPr id="9" name="Text 7"/>
          <p:cNvSpPr txBox="1"/>
          <p:nvPr/>
        </p:nvSpPr>
        <p:spPr>
          <a:xfrm>
            <a:off x="6400800" y="2276856"/>
            <a:ext cx="5029200" cy="1828800"/>
          </a:xfrm>
          <a:prstGeom prst="rect">
            <a:avLst/>
          </a:prstGeom>
          <a:noFill/>
          <a:ln/>
        </p:spPr>
        <p:txBody>
          <a:bodyPr wrap="square" lIns="0" tIns="0" rIns="0" bIns="0" rtlCol="0" anchor="t"/>
          <a:lstStyle/>
          <a:p>
            <a:pPr marL="0" indent="0">
              <a:lnSpc>
                <a:spcPts val="1600"/>
              </a:lnSpc>
              <a:buNone/>
            </a:pPr>
            <a:r>
              <a:rPr lang="en-US" sz="1200" dirty="0">
                <a:solidFill>
                  <a:srgbClr val="4B4468"/>
                </a:solidFill>
                <a:latin typeface="Calibri" pitchFamily="34" charset="0"/>
                <a:ea typeface="Calibri" pitchFamily="34" charset="-122"/>
                <a:cs typeface="Calibri" pitchFamily="34" charset="-120"/>
              </a:rPr>
              <a:t>How to clean a messy 31,000-row file, how pivot tables summarise large data in seconds, how to choose the right chart for each question, and most importantly how to read a chart and turn it into a business suggestion.</a:t>
            </a:r>
            <a:endParaRPr lang="en-US" sz="1200" dirty="0"/>
          </a:p>
        </p:txBody>
      </p:sp>
      <p:sp>
        <p:nvSpPr>
          <p:cNvPr id="10" name="Shape 8"/>
          <p:cNvSpPr/>
          <p:nvPr/>
        </p:nvSpPr>
        <p:spPr>
          <a:xfrm>
            <a:off x="566928" y="4526280"/>
            <a:ext cx="11064240" cy="621792"/>
          </a:xfrm>
          <a:prstGeom prst="roundRect">
            <a:avLst>
              <a:gd name="adj" fmla="val 5882"/>
            </a:avLst>
          </a:prstGeom>
          <a:solidFill>
            <a:srgbClr val="FBEBD4"/>
          </a:solidFill>
          <a:ln w="12700">
            <a:solidFill>
              <a:srgbClr val="F3A63B"/>
            </a:solidFill>
            <a:prstDash val="solid"/>
          </a:ln>
        </p:spPr>
      </p:sp>
      <p:sp>
        <p:nvSpPr>
          <p:cNvPr id="11" name="Shape 9"/>
          <p:cNvSpPr/>
          <p:nvPr/>
        </p:nvSpPr>
        <p:spPr>
          <a:xfrm>
            <a:off x="566928" y="4526280"/>
            <a:ext cx="64008" cy="621792"/>
          </a:xfrm>
          <a:prstGeom prst="rect">
            <a:avLst/>
          </a:prstGeom>
          <a:solidFill>
            <a:srgbClr val="F3A63B"/>
          </a:solidFill>
          <a:ln w="12700">
            <a:solidFill>
              <a:srgbClr val="333333"/>
            </a:solidFill>
            <a:prstDash val="solid"/>
          </a:ln>
        </p:spPr>
      </p:sp>
      <p:sp>
        <p:nvSpPr>
          <p:cNvPr id="12" name="Text 10"/>
          <p:cNvSpPr txBox="1"/>
          <p:nvPr/>
        </p:nvSpPr>
        <p:spPr>
          <a:xfrm>
            <a:off x="777240" y="4526280"/>
            <a:ext cx="10698480" cy="621792"/>
          </a:xfrm>
          <a:prstGeom prst="rect">
            <a:avLst/>
          </a:prstGeom>
          <a:noFill/>
          <a:ln/>
        </p:spPr>
        <p:txBody>
          <a:bodyPr wrap="square" lIns="0" tIns="0" rIns="0" bIns="0" rtlCol="0" anchor="ctr"/>
          <a:lstStyle/>
          <a:p>
            <a:pPr marL="0" indent="0">
              <a:buNone/>
            </a:pPr>
            <a:r>
              <a:rPr lang="en-US" sz="1350" dirty="0">
                <a:solidFill>
                  <a:srgbClr val="1B1140"/>
                </a:solidFill>
                <a:latin typeface="Calibri" pitchFamily="34" charset="0"/>
                <a:ea typeface="Calibri" pitchFamily="34" charset="-122"/>
                <a:cs typeface="Calibri" pitchFamily="34" charset="-120"/>
              </a:rPr>
              <a:t>Next time I would add a profit column and compare two years, so the report shows trends instead of a single snapshot.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140"/>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1140"/>
          </a:solidFill>
          <a:ln/>
        </p:spPr>
      </p:sp>
      <p:sp>
        <p:nvSpPr>
          <p:cNvPr id="3" name="Shape 1"/>
          <p:cNvSpPr/>
          <p:nvPr/>
        </p:nvSpPr>
        <p:spPr>
          <a:xfrm>
            <a:off x="-2011680" y="-2926080"/>
            <a:ext cx="7772400" cy="7772400"/>
          </a:xfrm>
          <a:prstGeom prst="ellipse">
            <a:avLst/>
          </a:prstGeom>
          <a:solidFill>
            <a:srgbClr val="3A2778">
              <a:alpha val="45000"/>
            </a:srgbClr>
          </a:solidFill>
          <a:ln/>
        </p:spPr>
      </p:sp>
      <p:sp>
        <p:nvSpPr>
          <p:cNvPr id="4" name="Shape 2"/>
          <p:cNvSpPr/>
          <p:nvPr/>
        </p:nvSpPr>
        <p:spPr>
          <a:xfrm>
            <a:off x="7863840" y="3291840"/>
            <a:ext cx="6949440" cy="6949440"/>
          </a:xfrm>
          <a:prstGeom prst="ellipse">
            <a:avLst/>
          </a:prstGeom>
          <a:solidFill>
            <a:srgbClr val="5A2350">
              <a:alpha val="50000"/>
            </a:srgbClr>
          </a:solidFill>
          <a:ln/>
        </p:spPr>
      </p:sp>
      <p:sp>
        <p:nvSpPr>
          <p:cNvPr id="6" name="Text 4"/>
          <p:cNvSpPr txBox="1"/>
          <p:nvPr/>
        </p:nvSpPr>
        <p:spPr>
          <a:xfrm>
            <a:off x="548640" y="658368"/>
            <a:ext cx="11064240" cy="86868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7" name="Text 5"/>
          <p:cNvSpPr txBox="1"/>
          <p:nvPr/>
        </p:nvSpPr>
        <p:spPr>
          <a:xfrm>
            <a:off x="621792" y="1783080"/>
            <a:ext cx="10698480" cy="822960"/>
          </a:xfrm>
          <a:prstGeom prst="rect">
            <a:avLst/>
          </a:prstGeom>
          <a:noFill/>
          <a:ln/>
        </p:spPr>
        <p:txBody>
          <a:bodyPr wrap="square" lIns="0" tIns="0" rIns="0" bIns="0" rtlCol="0" anchor="ctr"/>
          <a:lstStyle/>
          <a:p>
            <a:pPr marL="0" indent="0">
              <a:lnSpc>
                <a:spcPts val="2500"/>
              </a:lnSpc>
              <a:buNone/>
            </a:pPr>
            <a:r>
              <a:rPr lang="en-US" sz="1600" dirty="0">
                <a:solidFill>
                  <a:srgbClr val="DCD4EE"/>
                </a:solidFill>
                <a:latin typeface="Calibri" pitchFamily="34" charset="0"/>
                <a:ea typeface="Calibri" pitchFamily="34" charset="-122"/>
                <a:cs typeface="Calibri" pitchFamily="34" charset="-120"/>
              </a:rPr>
              <a:t>Khushi Store earned Rs 2.12 crore from 31,047 orders in 2026. The business rests on one clear customer: an adult woman shopping on Amazon or Myntra, living in a large metro state, buying a Set.</a:t>
            </a:r>
            <a:endParaRPr lang="en-US" sz="1600" dirty="0"/>
          </a:p>
        </p:txBody>
      </p:sp>
      <p:sp>
        <p:nvSpPr>
          <p:cNvPr id="8" name="Text 6"/>
          <p:cNvSpPr txBox="1"/>
          <p:nvPr/>
        </p:nvSpPr>
        <p:spPr>
          <a:xfrm>
            <a:off x="621792" y="2697480"/>
            <a:ext cx="10698480" cy="822960"/>
          </a:xfrm>
          <a:prstGeom prst="rect">
            <a:avLst/>
          </a:prstGeom>
          <a:noFill/>
          <a:ln/>
        </p:spPr>
        <p:txBody>
          <a:bodyPr wrap="square" lIns="0" tIns="0" rIns="0" bIns="0" rtlCol="0" anchor="ctr"/>
          <a:lstStyle/>
          <a:p>
            <a:pPr marL="0" indent="0">
              <a:lnSpc>
                <a:spcPts val="2500"/>
              </a:lnSpc>
              <a:buNone/>
            </a:pPr>
            <a:r>
              <a:rPr lang="en-US" sz="1600" dirty="0">
                <a:solidFill>
                  <a:srgbClr val="DCD4EE"/>
                </a:solidFill>
                <a:latin typeface="Calibri" pitchFamily="34" charset="0"/>
                <a:ea typeface="Calibri" pitchFamily="34" charset="-122"/>
                <a:cs typeface="Calibri" pitchFamily="34" charset="-120"/>
              </a:rPr>
              <a:t>If the store focuses its money and its stock on that customer, and reduces the 8% of orders that fail, it can grow comfortably in 2027 without spending more on advertising everywhere.</a:t>
            </a:r>
            <a:endParaRPr lang="en-US" sz="1600" dirty="0"/>
          </a:p>
        </p:txBody>
      </p:sp>
      <p:sp>
        <p:nvSpPr>
          <p:cNvPr id="9" name="Shape 7"/>
          <p:cNvSpPr/>
          <p:nvPr/>
        </p:nvSpPr>
        <p:spPr>
          <a:xfrm>
            <a:off x="640080" y="3794760"/>
            <a:ext cx="960120" cy="54864"/>
          </a:xfrm>
          <a:prstGeom prst="rect">
            <a:avLst/>
          </a:prstGeom>
          <a:solidFill>
            <a:srgbClr val="F3A63B"/>
          </a:solidFill>
          <a:ln w="12700">
            <a:solidFill>
              <a:srgbClr val="333333"/>
            </a:solidFill>
            <a:prstDash val="solid"/>
          </a:ln>
        </p:spPr>
      </p:sp>
      <p:sp>
        <p:nvSpPr>
          <p:cNvPr id="10" name="Text 8"/>
          <p:cNvSpPr txBox="1"/>
          <p:nvPr/>
        </p:nvSpPr>
        <p:spPr>
          <a:xfrm>
            <a:off x="603504" y="4069080"/>
            <a:ext cx="8229600" cy="7772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11" name="Text 9"/>
          <p:cNvSpPr txBox="1"/>
          <p:nvPr/>
        </p:nvSpPr>
        <p:spPr>
          <a:xfrm>
            <a:off x="621792" y="4956048"/>
            <a:ext cx="10058400" cy="365760"/>
          </a:xfrm>
          <a:prstGeom prst="rect">
            <a:avLst/>
          </a:prstGeom>
          <a:noFill/>
          <a:ln/>
        </p:spPr>
        <p:txBody>
          <a:bodyPr wrap="square" lIns="0" tIns="0" rIns="0" bIns="0" rtlCol="0" anchor="ctr"/>
          <a:lstStyle/>
          <a:p>
            <a:pPr marL="0" indent="0">
              <a:buNone/>
            </a:pPr>
            <a:r>
              <a:rPr lang="en-US" sz="1400" dirty="0">
                <a:solidFill>
                  <a:srgbClr val="F3A63B"/>
                </a:solidFill>
                <a:latin typeface="Calibri" pitchFamily="34" charset="0"/>
                <a:ea typeface="Calibri" pitchFamily="34" charset="-122"/>
                <a:cs typeface="Calibri" pitchFamily="34" charset="-120"/>
              </a:rPr>
              <a:t>Presented by Suraj Kumar  ·  24EACCS711  ·  Questions are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2238</Words>
  <Application>Microsoft Office PowerPoint</Application>
  <PresentationFormat>Widescreen</PresentationFormat>
  <Paragraphs>221</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Khushi Store Annual Sales Report 2026</dc:title>
  <dc:subject>PptxGenJS Presentation</dc:subject>
  <dc:creator>Suraj Kumar</dc:creator>
  <cp:lastModifiedBy>suraj kumar</cp:lastModifiedBy>
  <cp:revision>3</cp:revision>
  <dcterms:created xsi:type="dcterms:W3CDTF">2026-09-21T15:32:53Z</dcterms:created>
  <dcterms:modified xsi:type="dcterms:W3CDTF">2026-09-23T12:38:55Z</dcterms:modified>
</cp:coreProperties>
</file>